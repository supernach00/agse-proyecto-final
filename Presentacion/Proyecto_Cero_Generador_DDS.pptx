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71" r:id="rId11"/>
    <p:sldId id="272" r:id="rId12"/>
    <p:sldId id="276" r:id="rId13"/>
    <p:sldId id="273" r:id="rId14"/>
    <p:sldId id="274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CDDD4227-95DB-4480-B478-01D5B31299BD}">
          <p14:sldIdLst>
            <p14:sldId id="256"/>
            <p14:sldId id="257"/>
            <p14:sldId id="258"/>
            <p14:sldId id="259"/>
            <p14:sldId id="260"/>
            <p14:sldId id="261"/>
            <p14:sldId id="270"/>
            <p14:sldId id="262"/>
            <p14:sldId id="263"/>
            <p14:sldId id="271"/>
            <p14:sldId id="272"/>
            <p14:sldId id="276"/>
            <p14:sldId id="273"/>
            <p14:sldId id="274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619F8-93DD-45F6-90B2-4C7A2AC67FDA}" v="14" dt="2026-09-09T15:32:04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533" autoAdjust="0"/>
  </p:normalViewPr>
  <p:slideViewPr>
    <p:cSldViewPr snapToGrid="0" snapToObjects="1">
      <p:cViewPr varScale="1">
        <p:scale>
          <a:sx n="90" d="100"/>
          <a:sy n="90" d="100"/>
        </p:scale>
        <p:origin x="135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C0653-4148-4787-A0E6-5D6007E52227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72860-7798-4D93-A7EE-515E361AE3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86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72860-7798-4D93-A7EE-515E361AE3C6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2438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-  Acumulador de fase:  </a:t>
            </a:r>
            <a:r>
              <a:rPr lang="es-AR" dirty="0" err="1"/>
              <a:t>acc</a:t>
            </a:r>
            <a:r>
              <a:rPr lang="es-AR" dirty="0"/>
              <a:t> (32 bits) -&gt; </a:t>
            </a:r>
            <a:r>
              <a:rPr lang="es-MX" dirty="0"/>
              <a:t> Guarda la fase actual de la onda. Representa el ángulo 0…2π mapeado a 0…2³².</a:t>
            </a:r>
            <a:br>
              <a:rPr lang="es-MX" dirty="0"/>
            </a:br>
            <a:r>
              <a:rPr lang="es-MX" dirty="0"/>
              <a:t>-  FTW (paso):  </a:t>
            </a:r>
            <a:r>
              <a:rPr lang="es-MX" dirty="0" err="1"/>
              <a:t>ftw</a:t>
            </a:r>
            <a:r>
              <a:rPr lang="es-MX" dirty="0"/>
              <a:t> -&gt;  Cuánto avanza la fase en cada muestra. Define la frecuencia. </a:t>
            </a:r>
            <a:r>
              <a:rPr lang="es-MX" dirty="0" err="1"/>
              <a:t>ftw</a:t>
            </a:r>
            <a:r>
              <a:rPr lang="es-MX" dirty="0"/>
              <a:t> = fout·2³²/fs.</a:t>
            </a:r>
            <a:br>
              <a:rPr lang="es-MX" dirty="0"/>
            </a:br>
            <a:r>
              <a:rPr lang="es-MX" dirty="0"/>
              <a:t>-  Conversión </a:t>
            </a:r>
            <a:r>
              <a:rPr lang="es-MX" dirty="0" err="1"/>
              <a:t>fase→amplitud</a:t>
            </a:r>
            <a:r>
              <a:rPr lang="es-MX" dirty="0"/>
              <a:t>: </a:t>
            </a:r>
            <a:r>
              <a:rPr lang="es-MX" dirty="0" err="1"/>
              <a:t>idx</a:t>
            </a:r>
            <a:r>
              <a:rPr lang="es-MX" dirty="0"/>
              <a:t> = </a:t>
            </a:r>
            <a:r>
              <a:rPr lang="es-MX" dirty="0" err="1"/>
              <a:t>acc</a:t>
            </a:r>
            <a:r>
              <a:rPr lang="es-MX" dirty="0"/>
              <a:t>&gt;&gt;19 + tabla[</a:t>
            </a:r>
            <a:r>
              <a:rPr lang="es-MX" dirty="0" err="1"/>
              <a:t>idx</a:t>
            </a:r>
            <a:r>
              <a:rPr lang="es-MX" dirty="0"/>
              <a:t>] -&gt;  Toma la fase y la convierte en el valor de la senoidal (mirando la tabla).</a:t>
            </a:r>
            <a:br>
              <a:rPr lang="es-MX" dirty="0"/>
            </a:br>
            <a:br>
              <a:rPr lang="es-MX" dirty="0"/>
            </a:br>
            <a:r>
              <a:rPr lang="es-MX" dirty="0" err="1"/>
              <a:t>Fs</a:t>
            </a:r>
            <a:r>
              <a:rPr lang="es-MX" dirty="0"/>
              <a:t>/N -&gt; 48k/2^13 = 5.86 </a:t>
            </a:r>
            <a:r>
              <a:rPr lang="es-MX" dirty="0" err="1"/>
              <a:t>hz</a:t>
            </a:r>
            <a:br>
              <a:rPr lang="es-MX" dirty="0"/>
            </a:br>
            <a:r>
              <a:rPr lang="es-MX" dirty="0" err="1"/>
              <a:t>Fs</a:t>
            </a:r>
            <a:r>
              <a:rPr lang="es-MX" dirty="0"/>
              <a:t>/2^32 -&gt; 48k/2^32 = 0.00001hz </a:t>
            </a:r>
            <a:br>
              <a:rPr lang="es-MX" dirty="0"/>
            </a:br>
            <a:r>
              <a:rPr lang="es-MX" dirty="0"/>
              <a:t>al final es la misma cuenta porque luego en el índice </a:t>
            </a:r>
            <a:r>
              <a:rPr lang="es-MX" dirty="0" err="1"/>
              <a:t>idx</a:t>
            </a:r>
            <a:r>
              <a:rPr lang="es-MX" dirty="0"/>
              <a:t> = </a:t>
            </a:r>
            <a:r>
              <a:rPr lang="es-MX" dirty="0" err="1"/>
              <a:t>acc</a:t>
            </a:r>
            <a:r>
              <a:rPr lang="es-MX" dirty="0"/>
              <a:t> &gt;&gt; 19 se toman los 13 bits mas altos y se ignoran los 19 bits mas bajos.</a:t>
            </a: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/>
              <a:t>La tabla tiene UN ciclo completo de la senoidal, y el DAC saca una muestra cada tiempo fijo (1/</a:t>
            </a:r>
            <a:r>
              <a:rPr lang="es-MX" dirty="0" err="1"/>
              <a:t>fs</a:t>
            </a:r>
            <a:r>
              <a:rPr lang="es-MX" dirty="0"/>
              <a:t>). La frecuencia de salida es cuántos ciclos </a:t>
            </a:r>
            <a:r>
              <a:rPr lang="es-MX" dirty="0" err="1"/>
              <a:t>completás</a:t>
            </a:r>
            <a:r>
              <a:rPr lang="es-MX" dirty="0"/>
              <a:t> por segundo, o sea qué tan rápido </a:t>
            </a:r>
            <a:r>
              <a:rPr lang="es-MX" dirty="0" err="1"/>
              <a:t>recorrés</a:t>
            </a:r>
            <a:r>
              <a:rPr lang="es-MX" dirty="0"/>
              <a:t> la tabla. Si el paso es más grande, </a:t>
            </a:r>
            <a:r>
              <a:rPr lang="es-MX" dirty="0" err="1"/>
              <a:t>terminás</a:t>
            </a:r>
            <a:r>
              <a:rPr lang="es-MX" dirty="0"/>
              <a:t> la tabla (un ciclo) en menos muestras → cada ciclo dura menos → más frecuencia.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El razonamiento con números</a:t>
            </a:r>
            <a:br>
              <a:rPr lang="es-MX" dirty="0"/>
            </a:br>
            <a:br>
              <a:rPr lang="es-MX" dirty="0"/>
            </a:br>
            <a:r>
              <a:rPr lang="es-MX" dirty="0"/>
              <a:t>Dos cosas fijas: la tabla tiene N = 8192 puntos (un ciclo) y el DAC tira muestras a </a:t>
            </a:r>
            <a:r>
              <a:rPr lang="es-MX" dirty="0" err="1"/>
              <a:t>fs</a:t>
            </a:r>
            <a:r>
              <a:rPr lang="es-MX" dirty="0"/>
              <a:t> = 48 kHz (ritmo constante, no cambia nunca).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Un período de la señal = el tiempo que </a:t>
            </a:r>
            <a:r>
              <a:rPr lang="es-MX" dirty="0" err="1"/>
              <a:t>tardás</a:t>
            </a:r>
            <a:r>
              <a:rPr lang="es-MX" dirty="0"/>
              <a:t> en recorrer los 8192 puntos:</a:t>
            </a:r>
            <a:br>
              <a:rPr lang="es-MX" dirty="0"/>
            </a:br>
            <a:br>
              <a:rPr lang="es-MX" dirty="0"/>
            </a:br>
            <a:r>
              <a:rPr lang="es-MX" dirty="0"/>
              <a:t>muestras por ciclo = N / paso</a:t>
            </a:r>
            <a:br>
              <a:rPr lang="es-MX" dirty="0"/>
            </a:br>
            <a:br>
              <a:rPr lang="es-MX" dirty="0"/>
            </a:br>
            <a:r>
              <a:rPr lang="es-MX" dirty="0"/>
              <a:t>período           = (N / paso) / </a:t>
            </a:r>
            <a:r>
              <a:rPr lang="es-MX" dirty="0" err="1"/>
              <a:t>fs</a:t>
            </a:r>
            <a:r>
              <a:rPr lang="es-MX" dirty="0"/>
              <a:t>   [segundos]</a:t>
            </a:r>
            <a:br>
              <a:rPr lang="es-MX" dirty="0"/>
            </a:br>
            <a:br>
              <a:rPr lang="es-MX" dirty="0"/>
            </a:br>
            <a:r>
              <a:rPr lang="es-MX" dirty="0"/>
              <a:t>frecuencia        = 1 / período = paso · </a:t>
            </a:r>
            <a:r>
              <a:rPr lang="es-MX" dirty="0" err="1"/>
              <a:t>fs</a:t>
            </a:r>
            <a:r>
              <a:rPr lang="es-MX" dirty="0"/>
              <a:t> / N</a:t>
            </a:r>
            <a:br>
              <a:rPr lang="es-MX" dirty="0"/>
            </a:br>
            <a:br>
              <a:rPr lang="es-MX" dirty="0"/>
            </a:br>
            <a:r>
              <a:rPr lang="es-MX" dirty="0"/>
              <a:t>Entonces:</a:t>
            </a:r>
            <a:br>
              <a:rPr lang="es-MX" dirty="0"/>
            </a:br>
            <a:br>
              <a:rPr lang="es-MX" dirty="0"/>
            </a:br>
            <a:r>
              <a:rPr lang="es-MX" dirty="0" err="1"/>
              <a:t>fout</a:t>
            </a:r>
            <a:r>
              <a:rPr lang="es-MX" dirty="0"/>
              <a:t> = paso · </a:t>
            </a:r>
            <a:r>
              <a:rPr lang="es-MX" dirty="0" err="1"/>
              <a:t>fs</a:t>
            </a:r>
            <a:r>
              <a:rPr lang="es-MX" dirty="0"/>
              <a:t> / N</a:t>
            </a:r>
            <a:br>
              <a:rPr lang="es-MX" dirty="0"/>
            </a:br>
            <a:br>
              <a:rPr lang="es-MX" dirty="0"/>
            </a:br>
            <a:r>
              <a:rPr lang="es-MX" dirty="0"/>
              <a:t>La frecuencia es directamente proporcional al paso. Doble paso → doble frecuencia. Eso es lo que </a:t>
            </a:r>
            <a:r>
              <a:rPr lang="es-MX" dirty="0" err="1"/>
              <a:t>cambiás</a:t>
            </a:r>
            <a:r>
              <a:rPr lang="es-MX" dirty="0"/>
              <a:t> cuando </a:t>
            </a:r>
            <a:r>
              <a:rPr lang="es-MX" dirty="0" err="1"/>
              <a:t>mandás</a:t>
            </a:r>
            <a:r>
              <a:rPr lang="es-MX" dirty="0"/>
              <a:t> un número por la terminal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72860-7798-4D93-A7EE-515E361AE3C6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647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Escalado: </a:t>
            </a:r>
            <a:br>
              <a:rPr lang="es-AR" dirty="0"/>
            </a:br>
            <a:r>
              <a:rPr lang="es-AR" dirty="0"/>
              <a:t>- Se resta 2048 para centrar la altura en 0, ahora va de -2048 a +2047.</a:t>
            </a:r>
            <a:br>
              <a:rPr lang="es-AR" dirty="0"/>
            </a:br>
            <a:r>
              <a:rPr lang="es-AR" dirty="0"/>
              <a:t>- Se multiplica por la ganancia </a:t>
            </a:r>
            <a:r>
              <a:rPr lang="es-AR" dirty="0" err="1"/>
              <a:t>amp</a:t>
            </a:r>
            <a:r>
              <a:rPr lang="es-AR" dirty="0"/>
              <a:t>/2048, si </a:t>
            </a:r>
            <a:r>
              <a:rPr lang="es-AR" dirty="0" err="1"/>
              <a:t>amp</a:t>
            </a:r>
            <a:r>
              <a:rPr lang="es-AR" dirty="0"/>
              <a:t> vale 20448 gana 1, si vale 1024 0,5 y si vale 0 salida nula.</a:t>
            </a:r>
            <a:br>
              <a:rPr lang="es-AR" dirty="0"/>
            </a:br>
            <a:r>
              <a:rPr lang="es-AR" dirty="0"/>
              <a:t>-  Por ultimo se vuelve a sumar 2048 ya que no tenemos tenciones negativas y vamos desde 0 a 3,3V</a:t>
            </a:r>
            <a:br>
              <a:rPr lang="es-AR" dirty="0"/>
            </a:br>
            <a:r>
              <a:rPr lang="es-AR" dirty="0"/>
              <a:t>- El paso es de 0.2V, por lo que si tenemos la señal centrada en 1.6V, se tiene 1.6v para arriba y 1.6 para abajo, por lo que podemos cambiar la amplitud en 8 escalas. 1.6/0.2</a:t>
            </a:r>
            <a:br>
              <a:rPr lang="es-AR" dirty="0"/>
            </a:br>
            <a:br>
              <a:rPr lang="es-AR" dirty="0"/>
            </a:br>
            <a:r>
              <a:rPr lang="es-MX" dirty="0"/>
              <a:t>Mal: multiplicar directo (sin restar)</a:t>
            </a:r>
            <a:br>
              <a:rPr lang="es-AR" dirty="0"/>
            </a:br>
            <a:br>
              <a:rPr lang="es-AR" dirty="0"/>
            </a:br>
            <a:r>
              <a:rPr lang="es-AR" dirty="0"/>
              <a:t>│ Punto  │ Cuenta │ ×0.5 │             Qué pasó             </a:t>
            </a:r>
          </a:p>
          <a:p>
            <a:r>
              <a:rPr lang="es-AR" dirty="0"/>
              <a:t>│ Cresta  │ 4095   │ 2048 │ bajó un montón                   </a:t>
            </a:r>
          </a:p>
          <a:p>
            <a:r>
              <a:rPr lang="es-AR" dirty="0"/>
              <a:t>│ Centro │ 2048   │ 1024 │ ¡el centro se corrió para abajo! </a:t>
            </a:r>
          </a:p>
          <a:p>
            <a:r>
              <a:rPr lang="es-AR" dirty="0"/>
              <a:t> |     Valle  │ 0          │ 0    │ no se movió nada</a:t>
            </a:r>
            <a:br>
              <a:rPr lang="es-AR" dirty="0"/>
            </a:br>
            <a:br>
              <a:rPr lang="es-AR" dirty="0"/>
            </a:br>
            <a:r>
              <a:rPr lang="es-MX" dirty="0"/>
              <a:t>Bien: restar 2048 primero, después multiplicar</a:t>
            </a:r>
          </a:p>
          <a:p>
            <a:r>
              <a:rPr lang="es-MX" dirty="0"/>
              <a:t>│ Punto    | (tabla−2048) │ ×0.5    │ +2048 = salida │    Qué pasó     │</a:t>
            </a:r>
          </a:p>
          <a:p>
            <a:r>
              <a:rPr lang="es-MX" dirty="0"/>
              <a:t>│ Cresta  │ +2047          │ +1023 │ 3071                 │ bajó            │</a:t>
            </a:r>
          </a:p>
          <a:p>
            <a:r>
              <a:rPr lang="es-MX" dirty="0"/>
              <a:t>│ Centro │ 0                   │ 0         │ 2048                 │ quedó quieto ✔️ │</a:t>
            </a:r>
          </a:p>
          <a:p>
            <a:r>
              <a:rPr lang="es-MX" dirty="0"/>
              <a:t>│ Valle    │ −2048           │ −1024  | 1024                  │ subió           │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Ahora el "cero" es el centro (2048), porque al restar 2048 hiciste que el centro valga 0. Entonces la onda se encoge hacia el centro: la cresta baja y el valle sube, simétrico. Amplitud a la mitad, centrada.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72860-7798-4D93-A7EE-515E361AE3C6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074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DAC es de 12 bits → 4096 niveles (0 a 4095), repartidos en el rango de 0 a 3.3 V. Entonces cada cuenta (cada "escalón" del DAC) vale:</a:t>
            </a:r>
          </a:p>
          <a:p>
            <a:endParaRPr lang="es-MX" dirty="0"/>
          </a:p>
          <a:p>
            <a:r>
              <a:rPr lang="es-MX" dirty="0"/>
              <a:t>1 cuenta = 3.3 V / 4096 = 0.000806 V ≈ 0.806 </a:t>
            </a:r>
            <a:r>
              <a:rPr lang="es-MX" dirty="0" err="1"/>
              <a:t>mV</a:t>
            </a:r>
            <a:endParaRPr lang="es-MX" dirty="0"/>
          </a:p>
          <a:p>
            <a:endParaRPr lang="es-MX" dirty="0"/>
          </a:p>
          <a:p>
            <a:r>
              <a:rPr lang="es-MX" dirty="0"/>
              <a:t>Cuántas cuentas necesito para 0.2 V</a:t>
            </a:r>
          </a:p>
          <a:p>
            <a:endParaRPr lang="es-MX" dirty="0"/>
          </a:p>
          <a:p>
            <a:r>
              <a:rPr lang="es-MX" dirty="0"/>
              <a:t>Divido lo que quiero (0.2 V) por lo que vale una cuenta:</a:t>
            </a:r>
          </a:p>
          <a:p>
            <a:endParaRPr lang="es-MX" dirty="0"/>
          </a:p>
          <a:p>
            <a:r>
              <a:rPr lang="es-MX" dirty="0"/>
              <a:t>0.2 V / 0.000806 V ≈ 248 cuentas</a:t>
            </a:r>
          </a:p>
          <a:p>
            <a:endParaRPr lang="es-MX" dirty="0"/>
          </a:p>
          <a:p>
            <a:r>
              <a:rPr lang="es-MX" dirty="0"/>
              <a:t>Porque el DAC no entiende volts, entiende números de 0 a 4095. Vos internamente </a:t>
            </a:r>
            <a:r>
              <a:rPr lang="es-MX" dirty="0" err="1"/>
              <a:t>trabajás</a:t>
            </a:r>
            <a:r>
              <a:rPr lang="es-MX" dirty="0"/>
              <a:t> en cuentas (la variable </a:t>
            </a:r>
            <a:r>
              <a:rPr lang="es-MX" dirty="0" err="1"/>
              <a:t>amp</a:t>
            </a:r>
            <a:r>
              <a:rPr lang="es-MX" dirty="0"/>
              <a:t>[] está en cuentas), así que el paso también tiene que estar en cuentas. Por eso #define AMP_STEP 248 = "subí/bajá 0.2 V" traducido al idioma del DAC.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72860-7798-4D93-A7EE-515E361AE3C6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3187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72860-7798-4D93-A7EE-515E361AE3C6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4493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4434840"/>
            <a:ext cx="12191695" cy="1371600"/>
          </a:xfrm>
          <a:custGeom>
            <a:avLst/>
            <a:gdLst/>
            <a:ahLst/>
            <a:cxnLst/>
            <a:rect l="l" t="t" r="r" b="b"/>
            <a:pathLst>
              <a:path w="12191695" h="1371600">
                <a:moveTo>
                  <a:pt x="0" y="685800"/>
                </a:moveTo>
                <a:lnTo>
                  <a:pt x="101597" y="793082"/>
                </a:lnTo>
                <a:lnTo>
                  <a:pt x="203194" y="897723"/>
                </a:lnTo>
                <a:lnTo>
                  <a:pt x="304792" y="997146"/>
                </a:lnTo>
                <a:lnTo>
                  <a:pt x="406389" y="1088903"/>
                </a:lnTo>
                <a:lnTo>
                  <a:pt x="507987" y="1170733"/>
                </a:lnTo>
                <a:lnTo>
                  <a:pt x="609584" y="1240623"/>
                </a:lnTo>
                <a:lnTo>
                  <a:pt x="711182" y="1296852"/>
                </a:lnTo>
                <a:lnTo>
                  <a:pt x="812779" y="1338034"/>
                </a:lnTo>
                <a:lnTo>
                  <a:pt x="914377" y="1363156"/>
                </a:lnTo>
                <a:lnTo>
                  <a:pt x="1015974" y="1371600"/>
                </a:lnTo>
                <a:lnTo>
                  <a:pt x="1117572" y="1363156"/>
                </a:lnTo>
                <a:lnTo>
                  <a:pt x="1219169" y="1338034"/>
                </a:lnTo>
                <a:lnTo>
                  <a:pt x="1320766" y="1296852"/>
                </a:lnTo>
                <a:lnTo>
                  <a:pt x="1422364" y="1240623"/>
                </a:lnTo>
                <a:lnTo>
                  <a:pt x="1523961" y="1170733"/>
                </a:lnTo>
                <a:lnTo>
                  <a:pt x="1625559" y="1088903"/>
                </a:lnTo>
                <a:lnTo>
                  <a:pt x="1727156" y="997146"/>
                </a:lnTo>
                <a:lnTo>
                  <a:pt x="1828754" y="897723"/>
                </a:lnTo>
                <a:lnTo>
                  <a:pt x="1930351" y="793082"/>
                </a:lnTo>
                <a:lnTo>
                  <a:pt x="2031949" y="685800"/>
                </a:lnTo>
                <a:lnTo>
                  <a:pt x="2133546" y="578517"/>
                </a:lnTo>
                <a:lnTo>
                  <a:pt x="2235144" y="473876"/>
                </a:lnTo>
                <a:lnTo>
                  <a:pt x="2336741" y="374453"/>
                </a:lnTo>
                <a:lnTo>
                  <a:pt x="2438339" y="282696"/>
                </a:lnTo>
                <a:lnTo>
                  <a:pt x="2539936" y="200866"/>
                </a:lnTo>
                <a:lnTo>
                  <a:pt x="2641533" y="130976"/>
                </a:lnTo>
                <a:lnTo>
                  <a:pt x="2743131" y="74747"/>
                </a:lnTo>
                <a:lnTo>
                  <a:pt x="2844728" y="33565"/>
                </a:lnTo>
                <a:lnTo>
                  <a:pt x="2946326" y="8443"/>
                </a:lnTo>
                <a:lnTo>
                  <a:pt x="3047923" y="0"/>
                </a:lnTo>
                <a:lnTo>
                  <a:pt x="3149521" y="8443"/>
                </a:lnTo>
                <a:lnTo>
                  <a:pt x="3251118" y="33565"/>
                </a:lnTo>
                <a:lnTo>
                  <a:pt x="3352716" y="74747"/>
                </a:lnTo>
                <a:lnTo>
                  <a:pt x="3454313" y="130976"/>
                </a:lnTo>
                <a:lnTo>
                  <a:pt x="3555911" y="200866"/>
                </a:lnTo>
                <a:lnTo>
                  <a:pt x="3657508" y="282696"/>
                </a:lnTo>
                <a:lnTo>
                  <a:pt x="3759106" y="374453"/>
                </a:lnTo>
                <a:lnTo>
                  <a:pt x="3860703" y="473876"/>
                </a:lnTo>
                <a:lnTo>
                  <a:pt x="3962300" y="578517"/>
                </a:lnTo>
                <a:lnTo>
                  <a:pt x="4063898" y="685800"/>
                </a:lnTo>
                <a:lnTo>
                  <a:pt x="4165495" y="793082"/>
                </a:lnTo>
                <a:lnTo>
                  <a:pt x="4267093" y="897723"/>
                </a:lnTo>
                <a:lnTo>
                  <a:pt x="4368690" y="997146"/>
                </a:lnTo>
                <a:lnTo>
                  <a:pt x="4470288" y="1088903"/>
                </a:lnTo>
                <a:lnTo>
                  <a:pt x="4571885" y="1170733"/>
                </a:lnTo>
                <a:lnTo>
                  <a:pt x="4673483" y="1240623"/>
                </a:lnTo>
                <a:lnTo>
                  <a:pt x="4775080" y="1296852"/>
                </a:lnTo>
                <a:lnTo>
                  <a:pt x="4876678" y="1338034"/>
                </a:lnTo>
                <a:lnTo>
                  <a:pt x="4978275" y="1363156"/>
                </a:lnTo>
                <a:lnTo>
                  <a:pt x="5079873" y="1371600"/>
                </a:lnTo>
                <a:lnTo>
                  <a:pt x="5181470" y="1363156"/>
                </a:lnTo>
                <a:lnTo>
                  <a:pt x="5283067" y="1338034"/>
                </a:lnTo>
                <a:lnTo>
                  <a:pt x="5384665" y="1296852"/>
                </a:lnTo>
                <a:lnTo>
                  <a:pt x="5486262" y="1240623"/>
                </a:lnTo>
                <a:lnTo>
                  <a:pt x="5587860" y="1170733"/>
                </a:lnTo>
                <a:lnTo>
                  <a:pt x="5689457" y="1088903"/>
                </a:lnTo>
                <a:lnTo>
                  <a:pt x="5791055" y="997146"/>
                </a:lnTo>
                <a:lnTo>
                  <a:pt x="5892652" y="897723"/>
                </a:lnTo>
                <a:lnTo>
                  <a:pt x="5994250" y="793082"/>
                </a:lnTo>
                <a:lnTo>
                  <a:pt x="6095847" y="685800"/>
                </a:lnTo>
                <a:lnTo>
                  <a:pt x="6197445" y="578517"/>
                </a:lnTo>
                <a:lnTo>
                  <a:pt x="6299042" y="473876"/>
                </a:lnTo>
                <a:lnTo>
                  <a:pt x="6400639" y="374453"/>
                </a:lnTo>
                <a:lnTo>
                  <a:pt x="6502237" y="282696"/>
                </a:lnTo>
                <a:lnTo>
                  <a:pt x="6603834" y="200866"/>
                </a:lnTo>
                <a:lnTo>
                  <a:pt x="6705432" y="130976"/>
                </a:lnTo>
                <a:lnTo>
                  <a:pt x="6807029" y="74747"/>
                </a:lnTo>
                <a:lnTo>
                  <a:pt x="6908627" y="33565"/>
                </a:lnTo>
                <a:lnTo>
                  <a:pt x="7010224" y="8443"/>
                </a:lnTo>
                <a:lnTo>
                  <a:pt x="7111822" y="0"/>
                </a:lnTo>
                <a:lnTo>
                  <a:pt x="7213419" y="8443"/>
                </a:lnTo>
                <a:lnTo>
                  <a:pt x="7315017" y="33565"/>
                </a:lnTo>
                <a:lnTo>
                  <a:pt x="7416614" y="74747"/>
                </a:lnTo>
                <a:lnTo>
                  <a:pt x="7518212" y="130976"/>
                </a:lnTo>
                <a:lnTo>
                  <a:pt x="7619809" y="200866"/>
                </a:lnTo>
                <a:lnTo>
                  <a:pt x="7721406" y="282696"/>
                </a:lnTo>
                <a:lnTo>
                  <a:pt x="7823004" y="374453"/>
                </a:lnTo>
                <a:lnTo>
                  <a:pt x="7924601" y="473876"/>
                </a:lnTo>
                <a:lnTo>
                  <a:pt x="8026199" y="578517"/>
                </a:lnTo>
                <a:lnTo>
                  <a:pt x="8127796" y="685800"/>
                </a:lnTo>
                <a:lnTo>
                  <a:pt x="8229394" y="793082"/>
                </a:lnTo>
                <a:lnTo>
                  <a:pt x="8330991" y="897723"/>
                </a:lnTo>
                <a:lnTo>
                  <a:pt x="8432589" y="997146"/>
                </a:lnTo>
                <a:lnTo>
                  <a:pt x="8534186" y="1088903"/>
                </a:lnTo>
                <a:lnTo>
                  <a:pt x="8635784" y="1170733"/>
                </a:lnTo>
                <a:lnTo>
                  <a:pt x="8737381" y="1240623"/>
                </a:lnTo>
                <a:lnTo>
                  <a:pt x="8838979" y="1296852"/>
                </a:lnTo>
                <a:lnTo>
                  <a:pt x="8940576" y="1338034"/>
                </a:lnTo>
                <a:lnTo>
                  <a:pt x="9042173" y="1363156"/>
                </a:lnTo>
                <a:lnTo>
                  <a:pt x="9143771" y="1371600"/>
                </a:lnTo>
                <a:lnTo>
                  <a:pt x="9245368" y="1363156"/>
                </a:lnTo>
                <a:lnTo>
                  <a:pt x="9346966" y="1338034"/>
                </a:lnTo>
                <a:lnTo>
                  <a:pt x="9448563" y="1296852"/>
                </a:lnTo>
                <a:lnTo>
                  <a:pt x="9550161" y="1240623"/>
                </a:lnTo>
                <a:lnTo>
                  <a:pt x="9651758" y="1170733"/>
                </a:lnTo>
                <a:lnTo>
                  <a:pt x="9753356" y="1088903"/>
                </a:lnTo>
                <a:lnTo>
                  <a:pt x="9854953" y="997146"/>
                </a:lnTo>
                <a:lnTo>
                  <a:pt x="9956551" y="897723"/>
                </a:lnTo>
                <a:lnTo>
                  <a:pt x="10058148" y="793082"/>
                </a:lnTo>
                <a:lnTo>
                  <a:pt x="10159746" y="685800"/>
                </a:lnTo>
                <a:lnTo>
                  <a:pt x="10261343" y="578517"/>
                </a:lnTo>
                <a:lnTo>
                  <a:pt x="10362940" y="473876"/>
                </a:lnTo>
                <a:lnTo>
                  <a:pt x="10464538" y="374453"/>
                </a:lnTo>
                <a:lnTo>
                  <a:pt x="10566135" y="282696"/>
                </a:lnTo>
                <a:lnTo>
                  <a:pt x="10667733" y="200866"/>
                </a:lnTo>
                <a:lnTo>
                  <a:pt x="10769330" y="130976"/>
                </a:lnTo>
                <a:lnTo>
                  <a:pt x="10870928" y="74747"/>
                </a:lnTo>
                <a:lnTo>
                  <a:pt x="10972525" y="33565"/>
                </a:lnTo>
                <a:lnTo>
                  <a:pt x="11074123" y="8443"/>
                </a:lnTo>
                <a:lnTo>
                  <a:pt x="11175720" y="0"/>
                </a:lnTo>
                <a:lnTo>
                  <a:pt x="11277318" y="8443"/>
                </a:lnTo>
                <a:lnTo>
                  <a:pt x="11378915" y="33565"/>
                </a:lnTo>
                <a:lnTo>
                  <a:pt x="11480512" y="74747"/>
                </a:lnTo>
                <a:lnTo>
                  <a:pt x="11582110" y="130976"/>
                </a:lnTo>
                <a:lnTo>
                  <a:pt x="11683707" y="200866"/>
                </a:lnTo>
                <a:lnTo>
                  <a:pt x="11785305" y="282696"/>
                </a:lnTo>
                <a:lnTo>
                  <a:pt x="11886902" y="374453"/>
                </a:lnTo>
                <a:lnTo>
                  <a:pt x="11988500" y="473876"/>
                </a:lnTo>
                <a:lnTo>
                  <a:pt x="12090097" y="578517"/>
                </a:lnTo>
                <a:lnTo>
                  <a:pt x="12191695" y="685799"/>
                </a:lnTo>
              </a:path>
            </a:pathLst>
          </a:custGeom>
          <a:noFill/>
          <a:ln w="31750">
            <a:solidFill>
              <a:srgbClr val="1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PROYECTO FINAL · PROYECTO CERO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 Semibold"/>
              </a:rPr>
              <a:t>Generador de Señales por 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38BDF8"/>
                </a:solidFill>
                <a:latin typeface="Segoe UI"/>
              </a:rPr>
              <a:t>Adquisidor y Generador de Señales de audio con Codec 24 bits (AGSE)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9AABC4"/>
                </a:solidFill>
                <a:latin typeface="Segoe UI"/>
              </a:rPr>
              <a:t>Lado de generación — salida por DAC · STM32F446RE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Segoe UI"/>
              </a:rPr>
              <a:t>Integrantes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937760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AR" b="1" dirty="0" err="1">
                <a:solidFill>
                  <a:schemeClr val="bg1"/>
                </a:solidFill>
              </a:rPr>
              <a:t>Chantiri</a:t>
            </a:r>
            <a:r>
              <a:rPr lang="es-AR" b="1" dirty="0">
                <a:solidFill>
                  <a:schemeClr val="bg1"/>
                </a:solidFill>
              </a:rPr>
              <a:t>, Ignacio Nahuel</a:t>
            </a:r>
            <a:br>
              <a:rPr lang="es-AR" b="1" dirty="0">
                <a:solidFill>
                  <a:schemeClr val="bg1"/>
                </a:solidFill>
              </a:rPr>
            </a:br>
            <a:r>
              <a:rPr lang="es-AR" b="1" dirty="0">
                <a:solidFill>
                  <a:schemeClr val="bg1"/>
                </a:solidFill>
              </a:rPr>
              <a:t>Fernández Madau, Esteban</a:t>
            </a:r>
            <a:endParaRPr b="1" i="0" dirty="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0" y="44805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461772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22D3EE"/>
                </a:solidFill>
                <a:latin typeface="Segoe UI"/>
              </a:rPr>
              <a:t>Materia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93776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AR" sz="1600" dirty="0">
                <a:solidFill>
                  <a:srgbClr val="E8EEF7"/>
                </a:solidFill>
                <a:latin typeface="Segoe UI"/>
              </a:rPr>
              <a:t>Proyecto Integrador de Electrónica (E1227)</a:t>
            </a:r>
            <a:endParaRPr sz="1600" b="0" i="0" dirty="0">
              <a:solidFill>
                <a:srgbClr val="E8EEF7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¿Qué pedía el Proyecto Cero?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577840" cy="2341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8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dirty="0" err="1">
                <a:solidFill>
                  <a:srgbClr val="E8EEF7"/>
                </a:solidFill>
                <a:latin typeface="Segoe UI"/>
              </a:rPr>
              <a:t>Elegir</a:t>
            </a:r>
            <a:r>
              <a:rPr sz="1800" b="1" dirty="0">
                <a:solidFill>
                  <a:srgbClr val="E8EEF7"/>
                </a:solidFill>
                <a:latin typeface="Segoe UI"/>
              </a:rPr>
              <a:t> el </a:t>
            </a:r>
            <a:r>
              <a:rPr sz="1800" b="1" dirty="0" err="1">
                <a:solidFill>
                  <a:srgbClr val="E8EEF7"/>
                </a:solidFill>
                <a:latin typeface="Segoe UI"/>
              </a:rPr>
              <a:t>microcontrolador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 —  y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poner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en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marcha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el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entorno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de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desarrollo</a:t>
            </a:r>
            <a:endParaRPr sz="1800" dirty="0">
              <a:solidFill>
                <a:srgbClr val="9AABC4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8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800" b="1" dirty="0" err="1">
                <a:solidFill>
                  <a:srgbClr val="E8EEF7"/>
                </a:solidFill>
                <a:latin typeface="Segoe UI"/>
              </a:rPr>
              <a:t>Recibir</a:t>
            </a:r>
            <a:r>
              <a:rPr sz="1800" b="1" dirty="0">
                <a:solidFill>
                  <a:srgbClr val="E8EEF7"/>
                </a:solidFill>
                <a:latin typeface="Segoe UI"/>
              </a:rPr>
              <a:t> un </a:t>
            </a:r>
            <a:r>
              <a:rPr sz="1800" b="1" dirty="0" err="1">
                <a:solidFill>
                  <a:srgbClr val="E8EEF7"/>
                </a:solidFill>
                <a:latin typeface="Segoe UI"/>
              </a:rPr>
              <a:t>comando</a:t>
            </a:r>
            <a:r>
              <a:rPr sz="1800" b="1" dirty="0">
                <a:solidFill>
                  <a:srgbClr val="E8EEF7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E8EEF7"/>
                </a:solidFill>
                <a:latin typeface="Segoe UI"/>
              </a:rPr>
              <a:t>desde</a:t>
            </a:r>
            <a:r>
              <a:rPr sz="1800" b="1" dirty="0">
                <a:solidFill>
                  <a:srgbClr val="E8EEF7"/>
                </a:solidFill>
                <a:latin typeface="Segoe UI"/>
              </a:rPr>
              <a:t> la PC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 — 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comunicación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9AABC4"/>
                </a:solidFill>
                <a:latin typeface="Segoe UI"/>
              </a:rPr>
              <a:t>serie</a:t>
            </a:r>
            <a:r>
              <a:rPr sz="1800" dirty="0">
                <a:solidFill>
                  <a:srgbClr val="9AABC4"/>
                </a:solidFill>
                <a:latin typeface="Segoe UI"/>
              </a:rPr>
              <a:t> (UART)</a:t>
            </a:r>
            <a:endParaRPr lang="es-AR" sz="1800" dirty="0">
              <a:solidFill>
                <a:srgbClr val="9AABC4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lang="es-MX" sz="18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lang="es-MX" sz="1800" b="1" dirty="0">
                <a:solidFill>
                  <a:srgbClr val="E8EEF7"/>
                </a:solidFill>
                <a:latin typeface="Segoe UI"/>
              </a:rPr>
              <a:t>Sacar dos señales por pines separados</a:t>
            </a:r>
            <a:r>
              <a:rPr lang="es-MX" sz="1800" dirty="0">
                <a:solidFill>
                  <a:srgbClr val="9AABC4"/>
                </a:solidFill>
                <a:latin typeface="Segoe UI"/>
              </a:rPr>
              <a:t>  — cada una independiente en frecuencia y amplitud, usando el DAC de dos canales que trae el propio micro.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4663440" cy="3383280"/>
          </a:xfrm>
          <a:prstGeom prst="roundRect">
            <a:avLst>
              <a:gd name="adj" fmla="val 6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20116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NUESTRA PROPUESTA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77440"/>
            <a:ext cx="4206240" cy="1080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s-MX" sz="1600" dirty="0">
                <a:solidFill>
                  <a:srgbClr val="E8EEF7"/>
                </a:solidFill>
                <a:latin typeface="Segoe UI"/>
              </a:rPr>
              <a:t>Generar dos señales senoidales por síntesis digital directa (DDS), cada una con frecuencia y amplitud independientes, controladas con comandos desde la PC.</a:t>
            </a:r>
            <a:endParaRPr sz="1600" b="0" i="0" dirty="0">
              <a:solidFill>
                <a:srgbClr val="E8EEF7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37947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22D3EE"/>
                </a:solidFill>
                <a:latin typeface="Consolas"/>
              </a:rPr>
              <a:t>Tabla</a:t>
            </a:r>
            <a:r>
              <a:rPr sz="1400" b="1" i="0" dirty="0">
                <a:solidFill>
                  <a:srgbClr val="22D3EE"/>
                </a:solidFill>
                <a:latin typeface="Consolas"/>
              </a:rPr>
              <a:t> </a:t>
            </a:r>
            <a:r>
              <a:rPr sz="1400" b="1" i="0" dirty="0" err="1">
                <a:solidFill>
                  <a:srgbClr val="22D3EE"/>
                </a:solidFill>
                <a:latin typeface="Consolas"/>
              </a:rPr>
              <a:t>senoidal</a:t>
            </a:r>
            <a:r>
              <a:rPr sz="1400" b="1" i="0" dirty="0">
                <a:solidFill>
                  <a:srgbClr val="22D3EE"/>
                </a:solidFill>
                <a:latin typeface="Consolas"/>
              </a:rPr>
              <a:t>  +  </a:t>
            </a:r>
            <a:r>
              <a:rPr sz="1400" b="1" i="0" dirty="0" err="1">
                <a:solidFill>
                  <a:srgbClr val="22D3EE"/>
                </a:solidFill>
                <a:latin typeface="Consolas"/>
              </a:rPr>
              <a:t>acumulador</a:t>
            </a:r>
            <a:r>
              <a:rPr sz="1400" b="1" i="0" dirty="0">
                <a:solidFill>
                  <a:srgbClr val="22D3EE"/>
                </a:solidFill>
                <a:latin typeface="Consolas"/>
              </a:rPr>
              <a:t> de </a:t>
            </a:r>
            <a:r>
              <a:rPr sz="1400" b="1" i="0" dirty="0" err="1">
                <a:solidFill>
                  <a:srgbClr val="22D3EE"/>
                </a:solidFill>
                <a:latin typeface="Consolas"/>
              </a:rPr>
              <a:t>fase</a:t>
            </a:r>
            <a:r>
              <a:rPr sz="1400" b="1" i="0" dirty="0">
                <a:solidFill>
                  <a:srgbClr val="22D3EE"/>
                </a:solidFill>
                <a:latin typeface="Consolas"/>
              </a:rPr>
              <a:t>  +  paso (FTW)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4805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AABC4"/>
                </a:solidFill>
                <a:latin typeface="Segoe UI"/>
              </a:rPr>
              <a:t>Es la base del lado DAC del codec que viene después.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DECISIÓN DE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¿Por qué STM32?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STM32CubeMX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8EEF7"/>
                </a:solidFill>
                <a:latin typeface="Segoe UI"/>
              </a:rPr>
              <a:t>Configurás pines, relojes y periféricos de forma gráfica. Genera el código de arranque solo → menos errores a 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STM32CubeIDE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78608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8EEF7"/>
                </a:solidFill>
                <a:latin typeface="Segoe UI"/>
              </a:rPr>
              <a:t>IDE oficial todo-en-uno: editar, compilar, grabar y depurar. Gratis y ya integrado con CubeMX.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Librería HAL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18888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8EEF7"/>
                </a:solidFill>
                <a:latin typeface="Segoe UI"/>
              </a:rPr>
              <a:t>Programás con funciones portables (HAL_...) en vez de tocar registros a mano. Más legible y fácil de cambiar de micro.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6052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 Semibold"/>
              </a:rPr>
              <a:t>Ecosistema y costo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18888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8EEF7"/>
                </a:solidFill>
                <a:latin typeface="Segoe UI"/>
              </a:rPr>
              <a:t>Familia enorme, mucha documentación y comunidad. Placas Nucleo baratas con depurador ST-Link integrado.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ELECCIÓN DEL MICROCONTROLADOR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¿Por qué el STM32F446RE y no los otros dos?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732367"/>
              </p:ext>
            </p:extLst>
          </p:nvPr>
        </p:nvGraphicFramePr>
        <p:xfrm>
          <a:off x="822960" y="1783080"/>
          <a:ext cx="10515600" cy="406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Característica</a:t>
                      </a:r>
                    </a:p>
                  </a:txBody>
                  <a:tcPr marL="118872" anchor="ctr">
                    <a:solidFill>
                      <a:srgbClr val="12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D3EE"/>
                          </a:solidFill>
                          <a:latin typeface="Segoe UI"/>
                        </a:rPr>
                        <a:t>F411RE</a:t>
                      </a:r>
                    </a:p>
                  </a:txBody>
                  <a:tcPr marL="118872" anchor="ctr">
                    <a:solidFill>
                      <a:srgbClr val="12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2D3EE"/>
                          </a:solidFill>
                          <a:latin typeface="Segoe UI"/>
                        </a:rPr>
                        <a:t>F407VG</a:t>
                      </a:r>
                    </a:p>
                  </a:txBody>
                  <a:tcPr marL="118872" anchor="ctr">
                    <a:solidFill>
                      <a:srgbClr val="12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34D399"/>
                          </a:solidFill>
                          <a:latin typeface="Segoe UI"/>
                        </a:rPr>
                        <a:t>F446RE  ✓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EF7"/>
                          </a:solidFill>
                          <a:latin typeface="Segoe UI"/>
                        </a:rPr>
                        <a:t>Núcleo (M4 + FPU)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100 MHz · 125 DMIPS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168 MHz · 210 DMIPS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4D399"/>
                          </a:solidFill>
                          <a:latin typeface="Segoe UI"/>
                        </a:rPr>
                        <a:t>180 MHz · 225 DMIPS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EF7"/>
                          </a:solidFill>
                          <a:latin typeface="Segoe UI"/>
                        </a:rPr>
                        <a:t>DAC interno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BBF24"/>
                          </a:solidFill>
                          <a:latin typeface="Segoe UI"/>
                        </a:rPr>
                        <a:t>✗  no </a:t>
                      </a:r>
                      <a:r>
                        <a:rPr sz="1200" b="1" dirty="0" err="1">
                          <a:solidFill>
                            <a:srgbClr val="FBBF24"/>
                          </a:solidFill>
                          <a:latin typeface="Segoe UI"/>
                        </a:rPr>
                        <a:t>tiene</a:t>
                      </a:r>
                      <a:endParaRPr sz="1200" b="1" dirty="0">
                        <a:solidFill>
                          <a:srgbClr val="FBBF24"/>
                        </a:solidFill>
                        <a:latin typeface="Segoe UI"/>
                      </a:endParaRP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✓  2 × 12 bits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4D399"/>
                          </a:solidFill>
                          <a:latin typeface="Segoe UI"/>
                        </a:rPr>
                        <a:t>✓  2 × 12 bits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EF7"/>
                          </a:solidFill>
                          <a:latin typeface="Segoe UI"/>
                        </a:rPr>
                        <a:t>Flash / RAM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512 KB / 128 KB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9AABC4"/>
                          </a:solidFill>
                          <a:latin typeface="Segoe UI"/>
                        </a:rPr>
                        <a:t>1 MB / 192 KB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4D399"/>
                          </a:solidFill>
                          <a:latin typeface="Segoe UI"/>
                        </a:rPr>
                        <a:t>512 KB / 128 KB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EF7"/>
                          </a:solidFill>
                          <a:latin typeface="Segoe UI"/>
                        </a:rPr>
                        <a:t>Audio (futuro codec)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I²S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9AABC4"/>
                          </a:solidFill>
                          <a:latin typeface="Segoe UI"/>
                        </a:rPr>
                        <a:t>I²S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4D399"/>
                          </a:solidFill>
                          <a:latin typeface="Segoe UI"/>
                        </a:rPr>
                        <a:t>I²S + 2×SAI + SPDIF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EF7"/>
                          </a:solidFill>
                          <a:latin typeface="Segoe UI"/>
                        </a:rPr>
                        <a:t>Encapsulado / placa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9AABC4"/>
                          </a:solidFill>
                          <a:latin typeface="Segoe UI"/>
                        </a:rPr>
                        <a:t>LQFP64 · Nucleo-64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9AABC4"/>
                          </a:solidFill>
                          <a:latin typeface="Segoe UI"/>
                        </a:rPr>
                        <a:t>LQFP100 · Discovery</a:t>
                      </a:r>
                    </a:p>
                  </a:txBody>
                  <a:tcPr marL="118872" anchor="ctr"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>
                          <a:solidFill>
                            <a:srgbClr val="34D399"/>
                          </a:solidFill>
                          <a:latin typeface="Segoe UI"/>
                        </a:rPr>
                        <a:t>LQFP64 · Nucleo-64</a:t>
                      </a: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EEF7"/>
                          </a:solidFill>
                          <a:latin typeface="Segoe UI"/>
                        </a:rPr>
                        <a:t>Veredicto</a:t>
                      </a: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 dirty="0">
                          <a:solidFill>
                            <a:srgbClr val="9AABC4"/>
                          </a:solidFill>
                          <a:latin typeface="Segoe UI"/>
                        </a:rPr>
                        <a:t>Sin DAC → </a:t>
                      </a:r>
                      <a:r>
                        <a:rPr sz="1200" b="0" i="1" dirty="0" err="1">
                          <a:solidFill>
                            <a:srgbClr val="9AABC4"/>
                          </a:solidFill>
                          <a:latin typeface="Segoe UI"/>
                        </a:rPr>
                        <a:t>descartado</a:t>
                      </a:r>
                      <a:endParaRPr sz="1200" b="0" i="1" dirty="0">
                        <a:solidFill>
                          <a:srgbClr val="9AABC4"/>
                        </a:solidFill>
                        <a:latin typeface="Segoe UI"/>
                      </a:endParaRP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1" dirty="0">
                          <a:solidFill>
                            <a:srgbClr val="9AABC4"/>
                          </a:solidFill>
                          <a:latin typeface="Segoe UI"/>
                        </a:rPr>
                        <a:t>Potente, </a:t>
                      </a:r>
                      <a:r>
                        <a:rPr sz="1200" b="0" i="1" dirty="0" err="1">
                          <a:solidFill>
                            <a:srgbClr val="9AABC4"/>
                          </a:solidFill>
                          <a:latin typeface="Segoe UI"/>
                        </a:rPr>
                        <a:t>pero</a:t>
                      </a:r>
                      <a:r>
                        <a:rPr sz="1200" b="0" i="1" dirty="0">
                          <a:solidFill>
                            <a:srgbClr val="9AABC4"/>
                          </a:solidFill>
                          <a:latin typeface="Segoe UI"/>
                        </a:rPr>
                        <a:t> </a:t>
                      </a:r>
                      <a:r>
                        <a:rPr lang="es-AR" sz="1200" b="0" i="1" dirty="0">
                          <a:solidFill>
                            <a:srgbClr val="9AABC4"/>
                          </a:solidFill>
                          <a:latin typeface="Segoe UI"/>
                        </a:rPr>
                        <a:t>no lo tenemos disponible</a:t>
                      </a:r>
                      <a:endParaRPr sz="1200" b="0" i="1" dirty="0">
                        <a:solidFill>
                          <a:srgbClr val="9AABC4"/>
                        </a:solidFill>
                        <a:latin typeface="Segoe UI"/>
                      </a:endParaRPr>
                    </a:p>
                  </a:txBody>
                  <a:tcPr marL="118872" anchor="ctr">
                    <a:solidFill>
                      <a:srgbClr val="11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1200" b="1" i="0" dirty="0">
                          <a:solidFill>
                            <a:srgbClr val="34D399"/>
                          </a:solidFill>
                          <a:latin typeface="Segoe UI"/>
                        </a:rPr>
                        <a:t>Contiene todo lo necesario y lo tenemos disponible.</a:t>
                      </a:r>
                      <a:endParaRPr sz="1200" b="1" i="0" dirty="0">
                        <a:solidFill>
                          <a:srgbClr val="34D399"/>
                        </a:solidFill>
                        <a:latin typeface="Segoe UI"/>
                      </a:endParaRPr>
                    </a:p>
                  </a:txBody>
                  <a:tcPr marL="118872" anchor="ctr">
                    <a:solidFill>
                      <a:srgbClr val="1028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AABC4"/>
                </a:solidFill>
                <a:latin typeface="Segoe UI"/>
              </a:rPr>
              <a:t>Datos: datasheets de ST — F446 (DS10693) · F407 (DS8626) · F411 (DS10314)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LA PLATAFORMA ELEGIDA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Placa NUCLEO-F446RE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4754880" cy="4023360"/>
          </a:xfrm>
          <a:prstGeom prst="roundRect">
            <a:avLst>
              <a:gd name="adj" fmla="val 5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7999" y="2103120"/>
            <a:ext cx="4326673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AR" sz="1700" b="1" dirty="0">
                <a:solidFill>
                  <a:srgbClr val="22D3EE"/>
                </a:solidFill>
                <a:latin typeface="Segoe UI Semibold"/>
              </a:rPr>
              <a:t>CARACTERISTICAS RELEVANTES DEL MICRO</a:t>
            </a:r>
            <a:endParaRPr sz="1700" b="1" i="0" dirty="0">
              <a:solidFill>
                <a:srgbClr val="22D3EE"/>
              </a:solidFill>
              <a:latin typeface="Segoe UI Semi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5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7755B62-D335-EA10-0D02-A06979823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343817" y="1131185"/>
            <a:ext cx="4347903" cy="558318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543285-53D1-0B0A-19EA-177D891B3EEC}"/>
              </a:ext>
            </a:extLst>
          </p:cNvPr>
          <p:cNvSpPr txBox="1"/>
          <p:nvPr/>
        </p:nvSpPr>
        <p:spPr>
          <a:xfrm>
            <a:off x="6857999" y="2553629"/>
            <a:ext cx="43266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Interfaz SAI / I²S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DMA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Frecuencia de operación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Temporizadores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Núcleo ARM Cortex-M4 con DSP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Unidad de punto flotante (FPU)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Memoria SRAM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Memoria Flash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DAC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ADC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bg1"/>
                </a:solidFill>
              </a:rPr>
              <a:t>Capacidad para implementar DDS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CÓMO SE GENERA LA SEÑAL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1155680" cy="739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3400" b="1" i="0" dirty="0">
                <a:solidFill>
                  <a:srgbClr val="FFFFFF"/>
                </a:solidFill>
                <a:latin typeface="Segoe UI Semibold"/>
              </a:rPr>
              <a:t>El motor DDS</a:t>
            </a:r>
            <a:r>
              <a:rPr lang="es-AR" sz="3400" b="1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lang="es-AR" sz="3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(Síntesis Digital Directa)</a:t>
            </a:r>
            <a:endParaRPr lang="es-AR" sz="3400" b="1" i="0" dirty="0">
              <a:solidFill>
                <a:schemeClr val="bg1">
                  <a:lumMod val="65000"/>
                </a:schemeClr>
              </a:solidFill>
              <a:latin typeface="Segoe UI Semibold"/>
            </a:endParaRPr>
          </a:p>
          <a:p>
            <a:pPr>
              <a:lnSpc>
                <a:spcPct val="102000"/>
              </a:lnSpc>
            </a:pPr>
            <a:r>
              <a:rPr lang="es-MX" sz="1400" b="1" dirty="0">
                <a:solidFill>
                  <a:srgbClr val="FFFFFF"/>
                </a:solidFill>
                <a:latin typeface="Segoe UI Semibold"/>
              </a:rPr>
              <a:t> </a:t>
            </a:r>
            <a:r>
              <a:rPr lang="es-MX" sz="1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Se ejecuta ×2 (un oscilador por canal): 2 acumuladores (</a:t>
            </a:r>
            <a:r>
              <a:rPr lang="es-MX" sz="1400" b="1" dirty="0" err="1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acc</a:t>
            </a:r>
            <a:r>
              <a:rPr lang="es-MX" sz="1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[0], </a:t>
            </a:r>
            <a:r>
              <a:rPr lang="es-MX" sz="1400" b="1" dirty="0" err="1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acc</a:t>
            </a:r>
            <a:r>
              <a:rPr lang="es-MX" sz="1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[1]), 2 pasos (</a:t>
            </a:r>
            <a:r>
              <a:rPr lang="es-MX" sz="1400" b="1" dirty="0" err="1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ftw</a:t>
            </a:r>
            <a:r>
              <a:rPr lang="es-MX" sz="1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[0], </a:t>
            </a:r>
            <a:r>
              <a:rPr lang="es-MX" sz="1400" b="1" dirty="0" err="1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ftw</a:t>
            </a:r>
            <a:r>
              <a:rPr lang="es-MX" sz="1400" b="1" dirty="0">
                <a:solidFill>
                  <a:schemeClr val="bg1">
                    <a:lumMod val="65000"/>
                  </a:schemeClr>
                </a:solidFill>
                <a:latin typeface="Segoe UI Semibold"/>
              </a:rPr>
              <a:t>[1]) y 2 índices — compartiendo la misma tabla.</a:t>
            </a:r>
            <a:endParaRPr sz="1400" b="1" i="0" dirty="0">
              <a:solidFill>
                <a:schemeClr val="bg1">
                  <a:lumMod val="65000"/>
                </a:schemeClr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8" y="2007851"/>
            <a:ext cx="10515600" cy="502920"/>
          </a:xfrm>
          <a:prstGeom prst="roundRect">
            <a:avLst>
              <a:gd name="adj" fmla="val 30000"/>
            </a:avLst>
          </a:prstGeom>
          <a:solidFill>
            <a:srgbClr val="1028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2145011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34D399"/>
                </a:solidFill>
                <a:latin typeface="Segoe UI"/>
              </a:rPr>
              <a:t>TIM2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dispara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una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interrupción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a fs = 48 kHz  → 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en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cada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tick se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ejecuta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34D399"/>
                </a:solidFill>
                <a:latin typeface="Segoe UI"/>
              </a:rPr>
              <a:t>este</a:t>
            </a:r>
            <a:r>
              <a:rPr sz="1400" b="1" i="0" dirty="0">
                <a:solidFill>
                  <a:srgbClr val="34D399"/>
                </a:solidFill>
                <a:latin typeface="Segoe UI"/>
              </a:rPr>
              <a:t> motor: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1847088" cy="1371600"/>
          </a:xfrm>
          <a:prstGeom prst="roundRect">
            <a:avLst>
              <a:gd name="adj" fmla="val 12000"/>
            </a:avLst>
          </a:prstGeom>
          <a:solidFill>
            <a:srgbClr val="1622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 Semibold"/>
              </a:rPr>
              <a:t>FTW (paso)</a:t>
            </a:r>
          </a:p>
          <a:p>
            <a:pPr algn="ctr"/>
            <a:r>
              <a:rPr sz="1050" dirty="0">
                <a:solidFill>
                  <a:srgbClr val="22D3EE"/>
                </a:solidFill>
                <a:latin typeface="Consolas"/>
              </a:rPr>
              <a:t>fout·2³²/fs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9191" y="3383280"/>
            <a:ext cx="237744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26079" y="2834640"/>
            <a:ext cx="1847088" cy="1371600"/>
          </a:xfrm>
          <a:prstGeom prst="roundRect">
            <a:avLst>
              <a:gd name="adj" fmla="val 12000"/>
            </a:avLst>
          </a:prstGeom>
          <a:solidFill>
            <a:srgbClr val="1622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Acumulador</a:t>
            </a:r>
          </a:p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acc += ftw  (32 bits)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82312" y="3383280"/>
            <a:ext cx="237744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2834640"/>
            <a:ext cx="1847088" cy="1371600"/>
          </a:xfrm>
          <a:prstGeom prst="roundRect">
            <a:avLst>
              <a:gd name="adj" fmla="val 12000"/>
            </a:avLst>
          </a:prstGeom>
          <a:solidFill>
            <a:srgbClr val="1622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Índice</a:t>
            </a:r>
          </a:p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idx = acc &gt;&gt; 19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85431" y="3383280"/>
            <a:ext cx="237744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0" y="2834640"/>
            <a:ext cx="1847088" cy="1371600"/>
          </a:xfrm>
          <a:prstGeom prst="roundRect">
            <a:avLst>
              <a:gd name="adj" fmla="val 12000"/>
            </a:avLst>
          </a:prstGeom>
          <a:solidFill>
            <a:srgbClr val="1622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Tabla seno</a:t>
            </a:r>
          </a:p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8192 puntos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88552" y="3383280"/>
            <a:ext cx="237744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35440" y="2834640"/>
            <a:ext cx="1847088" cy="1371600"/>
          </a:xfrm>
          <a:prstGeom prst="roundRect">
            <a:avLst>
              <a:gd name="adj" fmla="val 12000"/>
            </a:avLst>
          </a:prstGeom>
          <a:solidFill>
            <a:srgbClr val="162240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 Semibold"/>
              </a:rPr>
              <a:t>DAC 12-bit</a:t>
            </a:r>
          </a:p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→ Vout (PA4)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9AABC4"/>
                </a:solidFill>
                <a:latin typeface="Segoe UI"/>
              </a:rPr>
              <a:t>El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acumulador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de 32 bits se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parte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en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13 bits de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índice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(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tabla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de 2¹³ = 8192) + 19 bits de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parte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fraccionaria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. La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fracción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se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acumula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y “arrastra” al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índice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: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así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conseguimos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pasos no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enteros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y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frecuencias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9AABC4"/>
                </a:solidFill>
                <a:latin typeface="Segoe UI"/>
              </a:rPr>
              <a:t>finas</a:t>
            </a:r>
            <a:r>
              <a:rPr sz="1500" b="0" i="0" dirty="0">
                <a:solidFill>
                  <a:srgbClr val="9AABC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9" y="-44196"/>
            <a:ext cx="12275915" cy="7031735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1730"/>
            <a:ext cx="1097280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50" b="1" i="0">
                <a:solidFill>
                  <a:srgbClr val="3AD1E0"/>
                </a:solidFill>
                <a:latin typeface="Calibri"/>
              </a:rPr>
              <a:t>PROYECTO CERO · GENERADOR 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0914"/>
            <a:ext cx="1124712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3400" b="1" i="0" dirty="0">
                <a:solidFill>
                  <a:srgbClr val="EAF1F8"/>
                </a:solidFill>
                <a:latin typeface="Calibri"/>
              </a:rPr>
              <a:t>El </a:t>
            </a:r>
            <a:r>
              <a:rPr sz="3400" b="1" i="0" dirty="0" err="1">
                <a:solidFill>
                  <a:srgbClr val="EAF1F8"/>
                </a:solidFill>
                <a:latin typeface="Calibri"/>
              </a:rPr>
              <a:t>bloque</a:t>
            </a:r>
            <a:r>
              <a:rPr sz="3400" b="1" i="0" dirty="0">
                <a:solidFill>
                  <a:srgbClr val="EAF1F8"/>
                </a:solidFill>
                <a:latin typeface="Calibri"/>
              </a:rPr>
              <a:t> de </a:t>
            </a:r>
            <a:r>
              <a:rPr sz="3400" b="1" i="0" dirty="0" err="1">
                <a:solidFill>
                  <a:srgbClr val="EAF1F8"/>
                </a:solidFill>
                <a:latin typeface="Calibri"/>
              </a:rPr>
              <a:t>amplitud</a:t>
            </a:r>
            <a:endParaRPr sz="3400" b="1" i="0" dirty="0">
              <a:solidFill>
                <a:srgbClr val="EAF1F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951536"/>
            <a:ext cx="11155680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500" b="0" i="0" dirty="0">
                <a:solidFill>
                  <a:srgbClr val="9DB2C7"/>
                </a:solidFill>
                <a:latin typeface="Calibri"/>
              </a:rPr>
              <a:t>Un paso extra entre la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tabla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seno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y el DAC: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escala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cuánto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se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aleja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la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onda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del </a:t>
            </a:r>
            <a:r>
              <a:rPr sz="1500" b="0" i="0" dirty="0" err="1">
                <a:solidFill>
                  <a:srgbClr val="9DB2C7"/>
                </a:solidFill>
                <a:latin typeface="Calibri"/>
              </a:rPr>
              <a:t>centro</a:t>
            </a:r>
            <a:r>
              <a:rPr sz="1500" b="0" i="0" dirty="0">
                <a:solidFill>
                  <a:srgbClr val="9DB2C7"/>
                </a:solidFill>
                <a:latin typeface="Calibri"/>
              </a:rPr>
              <a:t> (2048).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7503" y="1398156"/>
            <a:ext cx="2834640" cy="914400"/>
          </a:xfrm>
          <a:prstGeom prst="roundRect">
            <a:avLst/>
          </a:prstGeom>
          <a:solidFill>
            <a:srgbClr val="1C304C"/>
          </a:solidFill>
          <a:ln w="1905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7503" y="1544460"/>
            <a:ext cx="283464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600" b="1" i="0">
                <a:solidFill>
                  <a:srgbClr val="EAF1F8"/>
                </a:solidFill>
                <a:latin typeface="Calibri"/>
              </a:rPr>
              <a:t>TABLA SENO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503" y="1901076"/>
            <a:ext cx="283464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00" b="0" i="1">
                <a:solidFill>
                  <a:srgbClr val="9DB2C7"/>
                </a:solidFill>
                <a:latin typeface="Calibri"/>
              </a:rPr>
              <a:t>sine_table[idx]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8423" y="1398156"/>
            <a:ext cx="2834640" cy="914400"/>
          </a:xfrm>
          <a:prstGeom prst="roundRect">
            <a:avLst/>
          </a:prstGeom>
          <a:solidFill>
            <a:srgbClr val="1C304C"/>
          </a:solidFill>
          <a:ln w="1905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8423" y="1544460"/>
            <a:ext cx="283464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600" b="1" i="0">
                <a:solidFill>
                  <a:srgbClr val="EAF1F8"/>
                </a:solidFill>
                <a:latin typeface="Calibri"/>
              </a:rPr>
              <a:t>DAC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8423" y="1901076"/>
            <a:ext cx="283464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00" b="0" i="1">
                <a:solidFill>
                  <a:srgbClr val="9DB2C7"/>
                </a:solidFill>
                <a:latin typeface="Calibri"/>
              </a:rPr>
              <a:t>PA4  /  PA5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9302" y="1672476"/>
            <a:ext cx="4206240" cy="365760"/>
          </a:xfrm>
          <a:prstGeom prst="rightArrow">
            <a:avLst/>
          </a:prstGeom>
          <a:solidFill>
            <a:srgbClr val="16273D"/>
          </a:solidFill>
          <a:ln w="1270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75223" y="1398156"/>
            <a:ext cx="914400" cy="914400"/>
          </a:xfrm>
          <a:prstGeom prst="rect">
            <a:avLst/>
          </a:prstGeom>
          <a:noFill/>
          <a:ln w="2540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48375" y="1471308"/>
            <a:ext cx="768096" cy="768096"/>
          </a:xfrm>
          <a:prstGeom prst="ellipse">
            <a:avLst/>
          </a:prstGeom>
          <a:noFill/>
          <a:ln w="2794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8" y="1764098"/>
            <a:ext cx="164592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3AD1E0"/>
                </a:solidFill>
                <a:latin typeface="Calibri"/>
              </a:rPr>
              <a:t>🔍 ZOOM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112367" y="2107279"/>
            <a:ext cx="4526280" cy="530352"/>
          </a:xfrm>
          <a:prstGeom prst="line">
            <a:avLst/>
          </a:prstGeom>
          <a:ln w="12700">
            <a:solidFill>
              <a:srgbClr val="3AD1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08217" y="2088878"/>
            <a:ext cx="4526280" cy="530352"/>
          </a:xfrm>
          <a:prstGeom prst="line">
            <a:avLst/>
          </a:prstGeom>
          <a:ln w="12700">
            <a:solidFill>
              <a:srgbClr val="3AD1E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63243" y="2683913"/>
            <a:ext cx="9784080" cy="2880360"/>
          </a:xfrm>
          <a:prstGeom prst="roundRect">
            <a:avLst/>
          </a:prstGeom>
          <a:solidFill>
            <a:srgbClr val="16273D"/>
          </a:solidFill>
          <a:ln w="1905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583283" y="2898796"/>
            <a:ext cx="914400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700" b="1" i="0" dirty="0">
                <a:solidFill>
                  <a:srgbClr val="3AD1E0"/>
                </a:solidFill>
                <a:latin typeface="Calibri"/>
              </a:rPr>
              <a:t>BLOQUE DE AMPLITUD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3284" y="3242256"/>
            <a:ext cx="54864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50" b="0" i="1">
                <a:solidFill>
                  <a:srgbClr val="9DB2C7"/>
                </a:solidFill>
                <a:latin typeface="Calibri"/>
              </a:rPr>
              <a:t>(uno por canal — amp[0] y amp[1] independientes)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83284" y="3625746"/>
            <a:ext cx="1417320" cy="475488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83284" y="3717186"/>
            <a:ext cx="141732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50" b="1" i="0">
                <a:solidFill>
                  <a:srgbClr val="46D19E"/>
                </a:solidFill>
                <a:latin typeface="Calibri"/>
              </a:rPr>
              <a:t>1 · Centrar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7762" y="3734358"/>
            <a:ext cx="2087883" cy="23083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 i="0" dirty="0" err="1">
                <a:solidFill>
                  <a:srgbClr val="EAF1F8"/>
                </a:solidFill>
                <a:latin typeface="Consolas"/>
              </a:rPr>
              <a:t>tabla</a:t>
            </a:r>
            <a:r>
              <a:rPr sz="1500" b="1" i="0" dirty="0">
                <a:solidFill>
                  <a:srgbClr val="EAF1F8"/>
                </a:solidFill>
                <a:latin typeface="Consolas"/>
              </a:rPr>
              <a:t>[</a:t>
            </a:r>
            <a:r>
              <a:rPr sz="1500" b="1" i="0" dirty="0" err="1">
                <a:solidFill>
                  <a:srgbClr val="EAF1F8"/>
                </a:solidFill>
                <a:latin typeface="Consolas"/>
              </a:rPr>
              <a:t>idx</a:t>
            </a:r>
            <a:r>
              <a:rPr sz="1500" b="1" i="0" dirty="0">
                <a:solidFill>
                  <a:srgbClr val="EAF1F8"/>
                </a:solidFill>
                <a:latin typeface="Consolas"/>
              </a:rPr>
              <a:t>] − 2048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7763" y="3918354"/>
            <a:ext cx="3657600" cy="228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050" b="0" i="0">
                <a:solidFill>
                  <a:srgbClr val="9DB2C7"/>
                </a:solidFill>
                <a:latin typeface="Calibri"/>
              </a:rPr>
              <a:t>lleva la onda a girar alrededor de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83284" y="4192674"/>
            <a:ext cx="1417320" cy="475488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83284" y="4284114"/>
            <a:ext cx="141732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50" b="1" i="0">
                <a:solidFill>
                  <a:srgbClr val="46D19E"/>
                </a:solidFill>
                <a:latin typeface="Calibri"/>
              </a:rPr>
              <a:t>2 · Escalar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7763" y="4210962"/>
            <a:ext cx="1828800" cy="4114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 i="0">
                <a:solidFill>
                  <a:srgbClr val="EAF1F8"/>
                </a:solidFill>
                <a:latin typeface="Consolas"/>
              </a:rPr>
              <a:t>× amp / 2048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7763" y="4485282"/>
            <a:ext cx="3657600" cy="228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050" b="0" i="0">
                <a:solidFill>
                  <a:srgbClr val="9DB2C7"/>
                </a:solidFill>
                <a:latin typeface="Calibri"/>
              </a:rPr>
              <a:t>ganancia entre 0 y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83284" y="4759602"/>
            <a:ext cx="1417320" cy="475488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83284" y="4851042"/>
            <a:ext cx="141732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250" b="1" i="0">
                <a:solidFill>
                  <a:srgbClr val="46D19E"/>
                </a:solidFill>
                <a:latin typeface="Calibri"/>
              </a:rPr>
              <a:t>3 · Descentrar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7763" y="4777890"/>
            <a:ext cx="1828800" cy="41148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 i="0">
                <a:solidFill>
                  <a:srgbClr val="EAF1F8"/>
                </a:solidFill>
                <a:latin typeface="Consolas"/>
              </a:rPr>
              <a:t>+ 2048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7763" y="5052210"/>
            <a:ext cx="3657600" cy="228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050" b="0" i="0">
                <a:solidFill>
                  <a:srgbClr val="9DB2C7"/>
                </a:solidFill>
                <a:latin typeface="Calibri"/>
              </a:rPr>
              <a:t>vuelve a centrar en el punto medio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83282" y="5696711"/>
            <a:ext cx="6046877" cy="494717"/>
          </a:xfrm>
          <a:prstGeom prst="roundRect">
            <a:avLst/>
          </a:prstGeom>
          <a:solidFill>
            <a:srgbClr val="1C304C"/>
          </a:solidFill>
          <a:ln w="15875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83282" y="5805918"/>
            <a:ext cx="6046877" cy="238527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1550" b="1" i="0" dirty="0">
                <a:solidFill>
                  <a:srgbClr val="EAF1F8"/>
                </a:solidFill>
                <a:latin typeface="Consolas"/>
              </a:rPr>
              <a:t>salida = 2048 + (</a:t>
            </a:r>
            <a:r>
              <a:rPr sz="1550" b="1" i="0" dirty="0" err="1">
                <a:solidFill>
                  <a:srgbClr val="EAF1F8"/>
                </a:solidFill>
                <a:latin typeface="Consolas"/>
              </a:rPr>
              <a:t>tabla</a:t>
            </a:r>
            <a:r>
              <a:rPr sz="1550" b="1" i="0" dirty="0">
                <a:solidFill>
                  <a:srgbClr val="EAF1F8"/>
                </a:solidFill>
                <a:latin typeface="Consolas"/>
              </a:rPr>
              <a:t>[</a:t>
            </a:r>
            <a:r>
              <a:rPr sz="1550" b="1" i="0" dirty="0" err="1">
                <a:solidFill>
                  <a:srgbClr val="EAF1F8"/>
                </a:solidFill>
                <a:latin typeface="Consolas"/>
              </a:rPr>
              <a:t>idx</a:t>
            </a:r>
            <a:r>
              <a:rPr sz="1550" b="1" i="0" dirty="0">
                <a:solidFill>
                  <a:srgbClr val="EAF1F8"/>
                </a:solidFill>
                <a:latin typeface="Consolas"/>
              </a:rPr>
              <a:t>] − 2048) × amp / 2048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40803" y="2935373"/>
            <a:ext cx="3657600" cy="210312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29723" y="3643682"/>
            <a:ext cx="914400" cy="228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/>
            <a:r>
              <a:rPr sz="900" b="0" i="0" dirty="0">
                <a:solidFill>
                  <a:srgbClr val="9DB2C7"/>
                </a:solidFill>
                <a:latin typeface="Calibri"/>
              </a:rPr>
              <a:t>2048 (0 V)</a:t>
            </a:r>
          </a:p>
        </p:txBody>
      </p:sp>
      <p:sp>
        <p:nvSpPr>
          <p:cNvPr id="39" name="Freeform 38"/>
          <p:cNvSpPr/>
          <p:nvPr/>
        </p:nvSpPr>
        <p:spPr>
          <a:xfrm>
            <a:off x="7285278" y="3134704"/>
            <a:ext cx="3383280" cy="1471287"/>
          </a:xfrm>
          <a:custGeom>
            <a:avLst/>
            <a:gdLst/>
            <a:ahLst/>
            <a:cxnLst/>
            <a:rect l="l" t="t" r="r" b="b"/>
            <a:pathLst>
              <a:path w="3383280" h="1471287">
                <a:moveTo>
                  <a:pt x="0" y="735644"/>
                </a:moveTo>
                <a:lnTo>
                  <a:pt x="37592" y="633199"/>
                </a:lnTo>
                <a:lnTo>
                  <a:pt x="75184" y="532749"/>
                </a:lnTo>
                <a:lnTo>
                  <a:pt x="112775" y="436248"/>
                </a:lnTo>
                <a:lnTo>
                  <a:pt x="150368" y="345574"/>
                </a:lnTo>
                <a:lnTo>
                  <a:pt x="187960" y="262493"/>
                </a:lnTo>
                <a:lnTo>
                  <a:pt x="225551" y="188621"/>
                </a:lnTo>
                <a:lnTo>
                  <a:pt x="263144" y="125396"/>
                </a:lnTo>
                <a:lnTo>
                  <a:pt x="300736" y="74048"/>
                </a:lnTo>
                <a:lnTo>
                  <a:pt x="338327" y="35578"/>
                </a:lnTo>
                <a:lnTo>
                  <a:pt x="375920" y="10734"/>
                </a:lnTo>
                <a:lnTo>
                  <a:pt x="413511" y="0"/>
                </a:lnTo>
                <a:lnTo>
                  <a:pt x="451104" y="3584"/>
                </a:lnTo>
                <a:lnTo>
                  <a:pt x="488696" y="21417"/>
                </a:lnTo>
                <a:lnTo>
                  <a:pt x="526287" y="53151"/>
                </a:lnTo>
                <a:lnTo>
                  <a:pt x="563880" y="98169"/>
                </a:lnTo>
                <a:lnTo>
                  <a:pt x="601471" y="155595"/>
                </a:lnTo>
                <a:lnTo>
                  <a:pt x="639064" y="224311"/>
                </a:lnTo>
                <a:lnTo>
                  <a:pt x="676656" y="302979"/>
                </a:lnTo>
                <a:lnTo>
                  <a:pt x="714247" y="390069"/>
                </a:lnTo>
                <a:lnTo>
                  <a:pt x="751840" y="483885"/>
                </a:lnTo>
                <a:lnTo>
                  <a:pt x="789432" y="582601"/>
                </a:lnTo>
                <a:lnTo>
                  <a:pt x="827023" y="684296"/>
                </a:lnTo>
                <a:lnTo>
                  <a:pt x="864616" y="786991"/>
                </a:lnTo>
                <a:lnTo>
                  <a:pt x="902207" y="888686"/>
                </a:lnTo>
                <a:lnTo>
                  <a:pt x="939799" y="987402"/>
                </a:lnTo>
                <a:lnTo>
                  <a:pt x="977392" y="1081218"/>
                </a:lnTo>
                <a:lnTo>
                  <a:pt x="1014983" y="1168308"/>
                </a:lnTo>
                <a:lnTo>
                  <a:pt x="1052576" y="1246976"/>
                </a:lnTo>
                <a:lnTo>
                  <a:pt x="1090168" y="1315692"/>
                </a:lnTo>
                <a:lnTo>
                  <a:pt x="1127759" y="1373118"/>
                </a:lnTo>
                <a:lnTo>
                  <a:pt x="1165352" y="1418136"/>
                </a:lnTo>
                <a:lnTo>
                  <a:pt x="1202943" y="1449870"/>
                </a:lnTo>
                <a:lnTo>
                  <a:pt x="1240536" y="1467703"/>
                </a:lnTo>
                <a:lnTo>
                  <a:pt x="1278128" y="1471287"/>
                </a:lnTo>
                <a:lnTo>
                  <a:pt x="1315719" y="1460553"/>
                </a:lnTo>
                <a:lnTo>
                  <a:pt x="1353312" y="1435709"/>
                </a:lnTo>
                <a:lnTo>
                  <a:pt x="1390904" y="1397239"/>
                </a:lnTo>
                <a:lnTo>
                  <a:pt x="1428496" y="1345891"/>
                </a:lnTo>
                <a:lnTo>
                  <a:pt x="1466088" y="1282666"/>
                </a:lnTo>
                <a:lnTo>
                  <a:pt x="1503680" y="1208794"/>
                </a:lnTo>
                <a:lnTo>
                  <a:pt x="1541272" y="1125713"/>
                </a:lnTo>
                <a:lnTo>
                  <a:pt x="1578864" y="1035039"/>
                </a:lnTo>
                <a:lnTo>
                  <a:pt x="1616455" y="938538"/>
                </a:lnTo>
                <a:lnTo>
                  <a:pt x="1654048" y="838088"/>
                </a:lnTo>
                <a:lnTo>
                  <a:pt x="1691640" y="735644"/>
                </a:lnTo>
                <a:lnTo>
                  <a:pt x="1729232" y="633199"/>
                </a:lnTo>
                <a:lnTo>
                  <a:pt x="1766824" y="532749"/>
                </a:lnTo>
                <a:lnTo>
                  <a:pt x="1804416" y="436248"/>
                </a:lnTo>
                <a:lnTo>
                  <a:pt x="1842008" y="345574"/>
                </a:lnTo>
                <a:lnTo>
                  <a:pt x="1879600" y="262493"/>
                </a:lnTo>
                <a:lnTo>
                  <a:pt x="1917191" y="188621"/>
                </a:lnTo>
                <a:lnTo>
                  <a:pt x="1954784" y="125396"/>
                </a:lnTo>
                <a:lnTo>
                  <a:pt x="1992376" y="74048"/>
                </a:lnTo>
                <a:lnTo>
                  <a:pt x="2029968" y="35578"/>
                </a:lnTo>
                <a:lnTo>
                  <a:pt x="2067560" y="10734"/>
                </a:lnTo>
                <a:lnTo>
                  <a:pt x="2105151" y="0"/>
                </a:lnTo>
                <a:lnTo>
                  <a:pt x="2142744" y="3584"/>
                </a:lnTo>
                <a:lnTo>
                  <a:pt x="2180336" y="21417"/>
                </a:lnTo>
                <a:lnTo>
                  <a:pt x="2217928" y="53151"/>
                </a:lnTo>
                <a:lnTo>
                  <a:pt x="2255520" y="98169"/>
                </a:lnTo>
                <a:lnTo>
                  <a:pt x="2293112" y="155595"/>
                </a:lnTo>
                <a:lnTo>
                  <a:pt x="2330704" y="224311"/>
                </a:lnTo>
                <a:lnTo>
                  <a:pt x="2368296" y="302979"/>
                </a:lnTo>
                <a:lnTo>
                  <a:pt x="2405888" y="390069"/>
                </a:lnTo>
                <a:lnTo>
                  <a:pt x="2443480" y="483885"/>
                </a:lnTo>
                <a:lnTo>
                  <a:pt x="2481072" y="582601"/>
                </a:lnTo>
                <a:lnTo>
                  <a:pt x="2518664" y="684296"/>
                </a:lnTo>
                <a:lnTo>
                  <a:pt x="2556256" y="786991"/>
                </a:lnTo>
                <a:lnTo>
                  <a:pt x="2593848" y="888686"/>
                </a:lnTo>
                <a:lnTo>
                  <a:pt x="2631440" y="987402"/>
                </a:lnTo>
                <a:lnTo>
                  <a:pt x="2669032" y="1081218"/>
                </a:lnTo>
                <a:lnTo>
                  <a:pt x="2706624" y="1168308"/>
                </a:lnTo>
                <a:lnTo>
                  <a:pt x="2744216" y="1246976"/>
                </a:lnTo>
                <a:lnTo>
                  <a:pt x="2781808" y="1315692"/>
                </a:lnTo>
                <a:lnTo>
                  <a:pt x="2819400" y="1373118"/>
                </a:lnTo>
                <a:lnTo>
                  <a:pt x="2856992" y="1418136"/>
                </a:lnTo>
                <a:lnTo>
                  <a:pt x="2894584" y="1449870"/>
                </a:lnTo>
                <a:lnTo>
                  <a:pt x="2932176" y="1467703"/>
                </a:lnTo>
                <a:lnTo>
                  <a:pt x="2969768" y="1471287"/>
                </a:lnTo>
                <a:lnTo>
                  <a:pt x="3007360" y="1460553"/>
                </a:lnTo>
                <a:lnTo>
                  <a:pt x="3044952" y="1435709"/>
                </a:lnTo>
                <a:lnTo>
                  <a:pt x="3082544" y="1397239"/>
                </a:lnTo>
                <a:lnTo>
                  <a:pt x="3120136" y="1345891"/>
                </a:lnTo>
                <a:lnTo>
                  <a:pt x="3157728" y="1282666"/>
                </a:lnTo>
                <a:lnTo>
                  <a:pt x="3195320" y="1208794"/>
                </a:lnTo>
                <a:lnTo>
                  <a:pt x="3232912" y="1125713"/>
                </a:lnTo>
                <a:lnTo>
                  <a:pt x="3270504" y="1035039"/>
                </a:lnTo>
                <a:lnTo>
                  <a:pt x="3308096" y="938538"/>
                </a:lnTo>
                <a:lnTo>
                  <a:pt x="3345688" y="838088"/>
                </a:lnTo>
                <a:lnTo>
                  <a:pt x="3383280" y="735644"/>
                </a:lnTo>
              </a:path>
            </a:pathLst>
          </a:custGeom>
          <a:noFill/>
          <a:ln w="3302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Freeform 39"/>
          <p:cNvSpPr/>
          <p:nvPr/>
        </p:nvSpPr>
        <p:spPr>
          <a:xfrm>
            <a:off x="7277964" y="3616757"/>
            <a:ext cx="3383280" cy="511753"/>
          </a:xfrm>
          <a:custGeom>
            <a:avLst/>
            <a:gdLst/>
            <a:ahLst/>
            <a:cxnLst/>
            <a:rect l="l" t="t" r="r" b="b"/>
            <a:pathLst>
              <a:path w="3383280" h="511753">
                <a:moveTo>
                  <a:pt x="0" y="255877"/>
                </a:moveTo>
                <a:lnTo>
                  <a:pt x="37592" y="220244"/>
                </a:lnTo>
                <a:lnTo>
                  <a:pt x="75184" y="185305"/>
                </a:lnTo>
                <a:lnTo>
                  <a:pt x="112775" y="151739"/>
                </a:lnTo>
                <a:lnTo>
                  <a:pt x="150368" y="120200"/>
                </a:lnTo>
                <a:lnTo>
                  <a:pt x="187960" y="91302"/>
                </a:lnTo>
                <a:lnTo>
                  <a:pt x="225551" y="65608"/>
                </a:lnTo>
                <a:lnTo>
                  <a:pt x="263144" y="43616"/>
                </a:lnTo>
                <a:lnTo>
                  <a:pt x="300736" y="25756"/>
                </a:lnTo>
                <a:lnTo>
                  <a:pt x="338327" y="12376"/>
                </a:lnTo>
                <a:lnTo>
                  <a:pt x="375920" y="3734"/>
                </a:lnTo>
                <a:lnTo>
                  <a:pt x="413511" y="0"/>
                </a:lnTo>
                <a:lnTo>
                  <a:pt x="451104" y="1247"/>
                </a:lnTo>
                <a:lnTo>
                  <a:pt x="488696" y="7450"/>
                </a:lnTo>
                <a:lnTo>
                  <a:pt x="526287" y="18488"/>
                </a:lnTo>
                <a:lnTo>
                  <a:pt x="563880" y="34146"/>
                </a:lnTo>
                <a:lnTo>
                  <a:pt x="601471" y="54121"/>
                </a:lnTo>
                <a:lnTo>
                  <a:pt x="639064" y="78022"/>
                </a:lnTo>
                <a:lnTo>
                  <a:pt x="676656" y="105385"/>
                </a:lnTo>
                <a:lnTo>
                  <a:pt x="714247" y="135677"/>
                </a:lnTo>
                <a:lnTo>
                  <a:pt x="751840" y="168308"/>
                </a:lnTo>
                <a:lnTo>
                  <a:pt x="789432" y="202644"/>
                </a:lnTo>
                <a:lnTo>
                  <a:pt x="827023" y="238017"/>
                </a:lnTo>
                <a:lnTo>
                  <a:pt x="864616" y="273736"/>
                </a:lnTo>
                <a:lnTo>
                  <a:pt x="902207" y="309109"/>
                </a:lnTo>
                <a:lnTo>
                  <a:pt x="939799" y="343445"/>
                </a:lnTo>
                <a:lnTo>
                  <a:pt x="977392" y="376076"/>
                </a:lnTo>
                <a:lnTo>
                  <a:pt x="1014983" y="406368"/>
                </a:lnTo>
                <a:lnTo>
                  <a:pt x="1052576" y="433731"/>
                </a:lnTo>
                <a:lnTo>
                  <a:pt x="1090168" y="457632"/>
                </a:lnTo>
                <a:lnTo>
                  <a:pt x="1127759" y="477607"/>
                </a:lnTo>
                <a:lnTo>
                  <a:pt x="1165352" y="493265"/>
                </a:lnTo>
                <a:lnTo>
                  <a:pt x="1202943" y="504303"/>
                </a:lnTo>
                <a:lnTo>
                  <a:pt x="1240536" y="510506"/>
                </a:lnTo>
                <a:lnTo>
                  <a:pt x="1278128" y="511753"/>
                </a:lnTo>
                <a:lnTo>
                  <a:pt x="1315719" y="508019"/>
                </a:lnTo>
                <a:lnTo>
                  <a:pt x="1353312" y="499377"/>
                </a:lnTo>
                <a:lnTo>
                  <a:pt x="1390904" y="485997"/>
                </a:lnTo>
                <a:lnTo>
                  <a:pt x="1428496" y="468137"/>
                </a:lnTo>
                <a:lnTo>
                  <a:pt x="1466088" y="446145"/>
                </a:lnTo>
                <a:lnTo>
                  <a:pt x="1503680" y="420451"/>
                </a:lnTo>
                <a:lnTo>
                  <a:pt x="1541272" y="391553"/>
                </a:lnTo>
                <a:lnTo>
                  <a:pt x="1578864" y="360014"/>
                </a:lnTo>
                <a:lnTo>
                  <a:pt x="1616455" y="326448"/>
                </a:lnTo>
                <a:lnTo>
                  <a:pt x="1654048" y="291509"/>
                </a:lnTo>
                <a:lnTo>
                  <a:pt x="1691640" y="255877"/>
                </a:lnTo>
                <a:lnTo>
                  <a:pt x="1729232" y="220244"/>
                </a:lnTo>
                <a:lnTo>
                  <a:pt x="1766824" y="185305"/>
                </a:lnTo>
                <a:lnTo>
                  <a:pt x="1804416" y="151739"/>
                </a:lnTo>
                <a:lnTo>
                  <a:pt x="1842008" y="120200"/>
                </a:lnTo>
                <a:lnTo>
                  <a:pt x="1879600" y="91302"/>
                </a:lnTo>
                <a:lnTo>
                  <a:pt x="1917191" y="65608"/>
                </a:lnTo>
                <a:lnTo>
                  <a:pt x="1954784" y="43616"/>
                </a:lnTo>
                <a:lnTo>
                  <a:pt x="1992376" y="25756"/>
                </a:lnTo>
                <a:lnTo>
                  <a:pt x="2029968" y="12376"/>
                </a:lnTo>
                <a:lnTo>
                  <a:pt x="2067560" y="3734"/>
                </a:lnTo>
                <a:lnTo>
                  <a:pt x="2105151" y="0"/>
                </a:lnTo>
                <a:lnTo>
                  <a:pt x="2142744" y="1247"/>
                </a:lnTo>
                <a:lnTo>
                  <a:pt x="2180336" y="7450"/>
                </a:lnTo>
                <a:lnTo>
                  <a:pt x="2217928" y="18488"/>
                </a:lnTo>
                <a:lnTo>
                  <a:pt x="2255520" y="34146"/>
                </a:lnTo>
                <a:lnTo>
                  <a:pt x="2293112" y="54121"/>
                </a:lnTo>
                <a:lnTo>
                  <a:pt x="2330704" y="78022"/>
                </a:lnTo>
                <a:lnTo>
                  <a:pt x="2368296" y="105385"/>
                </a:lnTo>
                <a:lnTo>
                  <a:pt x="2405888" y="135677"/>
                </a:lnTo>
                <a:lnTo>
                  <a:pt x="2443480" y="168308"/>
                </a:lnTo>
                <a:lnTo>
                  <a:pt x="2481072" y="202644"/>
                </a:lnTo>
                <a:lnTo>
                  <a:pt x="2518664" y="238017"/>
                </a:lnTo>
                <a:lnTo>
                  <a:pt x="2556256" y="273736"/>
                </a:lnTo>
                <a:lnTo>
                  <a:pt x="2593848" y="309109"/>
                </a:lnTo>
                <a:lnTo>
                  <a:pt x="2631440" y="343445"/>
                </a:lnTo>
                <a:lnTo>
                  <a:pt x="2669032" y="376076"/>
                </a:lnTo>
                <a:lnTo>
                  <a:pt x="2706624" y="406368"/>
                </a:lnTo>
                <a:lnTo>
                  <a:pt x="2744216" y="433731"/>
                </a:lnTo>
                <a:lnTo>
                  <a:pt x="2781808" y="457632"/>
                </a:lnTo>
                <a:lnTo>
                  <a:pt x="2819400" y="477607"/>
                </a:lnTo>
                <a:lnTo>
                  <a:pt x="2856992" y="493265"/>
                </a:lnTo>
                <a:lnTo>
                  <a:pt x="2894584" y="504303"/>
                </a:lnTo>
                <a:lnTo>
                  <a:pt x="2932176" y="510506"/>
                </a:lnTo>
                <a:lnTo>
                  <a:pt x="2969768" y="511753"/>
                </a:lnTo>
                <a:lnTo>
                  <a:pt x="3007360" y="508019"/>
                </a:lnTo>
                <a:lnTo>
                  <a:pt x="3044952" y="499377"/>
                </a:lnTo>
                <a:lnTo>
                  <a:pt x="3082544" y="485997"/>
                </a:lnTo>
                <a:lnTo>
                  <a:pt x="3120136" y="468137"/>
                </a:lnTo>
                <a:lnTo>
                  <a:pt x="3157728" y="446145"/>
                </a:lnTo>
                <a:lnTo>
                  <a:pt x="3195320" y="420451"/>
                </a:lnTo>
                <a:lnTo>
                  <a:pt x="3232912" y="391553"/>
                </a:lnTo>
                <a:lnTo>
                  <a:pt x="3270504" y="360014"/>
                </a:lnTo>
                <a:lnTo>
                  <a:pt x="3308096" y="326448"/>
                </a:lnTo>
                <a:lnTo>
                  <a:pt x="3345688" y="291509"/>
                </a:lnTo>
                <a:lnTo>
                  <a:pt x="3383280" y="255877"/>
                </a:lnTo>
              </a:path>
            </a:pathLst>
          </a:custGeom>
          <a:noFill/>
          <a:ln w="33020">
            <a:solidFill>
              <a:srgbClr val="46D1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86523" y="4707571"/>
            <a:ext cx="365760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000" b="0" i="0" dirty="0" err="1">
                <a:solidFill>
                  <a:srgbClr val="9DB2C7"/>
                </a:solidFill>
                <a:latin typeface="Calibri"/>
              </a:rPr>
              <a:t>azul</a:t>
            </a:r>
            <a:r>
              <a:rPr sz="1000" b="0" i="0" dirty="0">
                <a:solidFill>
                  <a:srgbClr val="9DB2C7"/>
                </a:solidFill>
                <a:latin typeface="Calibri"/>
              </a:rPr>
              <a:t> = </a:t>
            </a:r>
            <a:r>
              <a:rPr sz="1000" b="0" i="0" dirty="0" err="1">
                <a:solidFill>
                  <a:srgbClr val="9DB2C7"/>
                </a:solidFill>
                <a:latin typeface="Calibri"/>
              </a:rPr>
              <a:t>máx</a:t>
            </a:r>
            <a:r>
              <a:rPr sz="1000" b="0" i="0" dirty="0">
                <a:solidFill>
                  <a:srgbClr val="9DB2C7"/>
                </a:solidFill>
                <a:latin typeface="Calibri"/>
              </a:rPr>
              <a:t> (±1.65 V)   ·   </a:t>
            </a:r>
            <a:r>
              <a:rPr sz="1000" b="0" i="0" dirty="0" err="1">
                <a:solidFill>
                  <a:srgbClr val="9DB2C7"/>
                </a:solidFill>
                <a:latin typeface="Calibri"/>
              </a:rPr>
              <a:t>verde</a:t>
            </a:r>
            <a:r>
              <a:rPr sz="1000" b="0" i="0" dirty="0">
                <a:solidFill>
                  <a:srgbClr val="9DB2C7"/>
                </a:solidFill>
                <a:latin typeface="Calibri"/>
              </a:rPr>
              <a:t> = </a:t>
            </a:r>
            <a:r>
              <a:rPr sz="1000" b="0" i="0" dirty="0" err="1">
                <a:solidFill>
                  <a:srgbClr val="9DB2C7"/>
                </a:solidFill>
                <a:latin typeface="Calibri"/>
              </a:rPr>
              <a:t>reducida</a:t>
            </a:r>
            <a:r>
              <a:rPr sz="1000" b="0" i="0" dirty="0">
                <a:solidFill>
                  <a:srgbClr val="9DB2C7"/>
                </a:solidFill>
                <a:latin typeface="Calibri"/>
              </a:rPr>
              <a:t> (±0.2 V)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6318373"/>
            <a:ext cx="1408176" cy="36576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88720" y="6382381"/>
            <a:ext cx="1408176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 i="0">
                <a:solidFill>
                  <a:srgbClr val="3AD1E0"/>
                </a:solidFill>
                <a:latin typeface="Calibri"/>
              </a:rPr>
              <a:t>paso  ±0.2 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25496" y="6318373"/>
            <a:ext cx="2848356" cy="36576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25496" y="6382381"/>
            <a:ext cx="2848356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 i="0">
                <a:solidFill>
                  <a:srgbClr val="3AD1E0"/>
                </a:solidFill>
                <a:latin typeface="Calibri"/>
              </a:rPr>
              <a:t>máx  1.65 V pico  (3.3 Vpp)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02452" y="6318373"/>
            <a:ext cx="3328415" cy="36576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02452" y="6382381"/>
            <a:ext cx="3328415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 i="0">
                <a:solidFill>
                  <a:srgbClr val="3AD1E0"/>
                </a:solidFill>
                <a:latin typeface="Calibri"/>
              </a:rPr>
              <a:t>escala el ALTO, no la frecuencia</a:t>
            </a:r>
          </a:p>
        </p:txBody>
      </p:sp>
      <p:cxnSp>
        <p:nvCxnSpPr>
          <p:cNvPr id="48" name="Connector 36">
            <a:extLst>
              <a:ext uri="{FF2B5EF4-FFF2-40B4-BE49-F238E27FC236}">
                <a16:creationId xmlns:a16="http://schemas.microsoft.com/office/drawing/2014/main" id="{6F9358E6-10AC-2C02-A0D1-2AD18FDFCAB7}"/>
              </a:ext>
            </a:extLst>
          </p:cNvPr>
          <p:cNvCxnSpPr/>
          <p:nvPr/>
        </p:nvCxnSpPr>
        <p:spPr>
          <a:xfrm>
            <a:off x="7323683" y="3863490"/>
            <a:ext cx="3383280" cy="0"/>
          </a:xfrm>
          <a:prstGeom prst="line">
            <a:avLst/>
          </a:prstGeom>
          <a:ln w="9525">
            <a:solidFill>
              <a:srgbClr val="9DB2C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DECISIÓN DE DISEÑO · EJE HORIZONTAL (FASE)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¿Por qué 8192 puntos en la tabla?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8521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 dirty="0" err="1">
                <a:solidFill>
                  <a:srgbClr val="E8EEF7"/>
                </a:solidFill>
                <a:latin typeface="Segoe UI"/>
              </a:rPr>
              <a:t>Potencia</a:t>
            </a:r>
            <a:r>
              <a:rPr sz="1700" b="1" dirty="0">
                <a:solidFill>
                  <a:srgbClr val="E8EEF7"/>
                </a:solidFill>
                <a:latin typeface="Segoe UI"/>
              </a:rPr>
              <a:t> de 2 (2¹³)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 —  el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índice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sale con un simple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corrimiento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de bits (acc &gt;&gt; 19),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rapidísimo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en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la ISR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E8EEF7"/>
                </a:solidFill>
                <a:latin typeface="Segoe UI"/>
              </a:rPr>
              <a:t>Buena </a:t>
            </a:r>
            <a:r>
              <a:rPr sz="1700" b="1" dirty="0" err="1">
                <a:solidFill>
                  <a:srgbClr val="E8EEF7"/>
                </a:solidFill>
                <a:latin typeface="Segoe UI"/>
              </a:rPr>
              <a:t>resolución</a:t>
            </a:r>
            <a:r>
              <a:rPr sz="1700" b="1" dirty="0">
                <a:solidFill>
                  <a:srgbClr val="E8EEF7"/>
                </a:solidFill>
                <a:latin typeface="Segoe UI"/>
              </a:rPr>
              <a:t> de </a:t>
            </a:r>
            <a:r>
              <a:rPr sz="1700" b="1" dirty="0" err="1">
                <a:solidFill>
                  <a:srgbClr val="E8EEF7"/>
                </a:solidFill>
                <a:latin typeface="Segoe UI"/>
              </a:rPr>
              <a:t>fase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 —  8192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muestras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por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vuelta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=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una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senoidal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bien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detallada</a:t>
            </a:r>
            <a:endParaRPr sz="1700" dirty="0">
              <a:solidFill>
                <a:srgbClr val="9AABC4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 dirty="0">
                <a:solidFill>
                  <a:srgbClr val="E8EEF7"/>
                </a:solidFill>
                <a:latin typeface="Segoe UI"/>
              </a:rPr>
              <a:t>Memoria </a:t>
            </a:r>
            <a:r>
              <a:rPr sz="1700" b="1" dirty="0" err="1">
                <a:solidFill>
                  <a:srgbClr val="E8EEF7"/>
                </a:solidFill>
                <a:latin typeface="Segoe UI"/>
              </a:rPr>
              <a:t>acotada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 —  8192 × 2 bytes = 16 KB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en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Flash: nada para el F446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700" b="1" dirty="0" err="1">
                <a:solidFill>
                  <a:srgbClr val="E8EEF7"/>
                </a:solidFill>
                <a:latin typeface="Segoe UI"/>
              </a:rPr>
              <a:t>Compartimos</a:t>
            </a:r>
            <a:r>
              <a:rPr sz="1700" b="1" dirty="0">
                <a:solidFill>
                  <a:srgbClr val="E8EEF7"/>
                </a:solidFill>
                <a:latin typeface="Segoe UI"/>
              </a:rPr>
              <a:t> el micro con el ADC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 —  no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derrochar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Flash/RAM: 8192 es el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equilibrio</a:t>
            </a:r>
            <a:r>
              <a:rPr sz="17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700" dirty="0" err="1">
                <a:solidFill>
                  <a:srgbClr val="9AABC4"/>
                </a:solidFill>
                <a:latin typeface="Segoe UI"/>
              </a:rPr>
              <a:t>justo</a:t>
            </a:r>
            <a:endParaRPr sz="1700" dirty="0">
              <a:solidFill>
                <a:srgbClr val="9AABC4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49440" y="1920240"/>
            <a:ext cx="4389120" cy="3566160"/>
          </a:xfrm>
          <a:prstGeom prst="roundRect">
            <a:avLst>
              <a:gd name="adj" fmla="val 5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21031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Segoe UI Semibold"/>
              </a:rPr>
              <a:t>OJO: son dos ejes distintos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6517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Segoe UI"/>
              </a:rPr>
              <a:t>8192 puntos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0632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BC4"/>
                </a:solidFill>
                <a:latin typeface="Segoe UI"/>
              </a:rPr>
              <a:t>eje horizontal → tiempo / fase
(cuántos pasos por ciclo)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977639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8BDF8"/>
                </a:solidFill>
                <a:latin typeface="Segoe UI"/>
              </a:rPr>
              <a:t>4096 niveles (12 bits)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38912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AABC4"/>
                </a:solidFill>
                <a:latin typeface="Segoe UI"/>
              </a:rPr>
              <a:t>eje vertical → amplitud
(resolución del DAC)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 dirty="0">
                <a:solidFill>
                  <a:srgbClr val="22D3EE"/>
                </a:solidFill>
                <a:latin typeface="Segoe UI Semibold"/>
              </a:rPr>
              <a:t>DECISIÓN DE DISEÑO · FRECUENCIA DE MUESTREO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¿Por qué 48 kHz y no mucho más?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943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7"/>
                </a:solidFill>
                <a:latin typeface="Segoe UI"/>
              </a:rPr>
              <a:t>Estándar de audio</a:t>
            </a:r>
            <a:r>
              <a:rPr sz="1600">
                <a:solidFill>
                  <a:srgbClr val="9AABC4"/>
                </a:solidFill>
                <a:latin typeface="Segoe UI"/>
              </a:rPr>
              <a:t>  —  48 kHz es una frecuencia clásica de audio profesional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7"/>
                </a:solidFill>
                <a:latin typeface="Segoe UI"/>
              </a:rPr>
              <a:t>Cumple Nyquist</a:t>
            </a:r>
            <a:r>
              <a:rPr sz="1600">
                <a:solidFill>
                  <a:srgbClr val="9AABC4"/>
                </a:solidFill>
                <a:latin typeface="Segoe UI"/>
              </a:rPr>
              <a:t>  —  fs &gt; 2·fmax: cubre toda la banda audible (hasta 20 kHz) con margen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7"/>
                </a:solidFill>
                <a:latin typeface="Segoe UI"/>
              </a:rPr>
              <a:t>Alcanza para el objetivo</a:t>
            </a:r>
            <a:r>
              <a:rPr sz="1600">
                <a:solidFill>
                  <a:srgbClr val="9AABC4"/>
                </a:solidFill>
                <a:latin typeface="Segoe UI"/>
              </a:rPr>
              <a:t>  —  queremos ver la senoidal y cómo cambia con los comandos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600" b="1">
                <a:solidFill>
                  <a:srgbClr val="E8EEF7"/>
                </a:solidFill>
                <a:latin typeface="Segoe UI"/>
              </a:rPr>
              <a:t>Más fs = más carga</a:t>
            </a:r>
            <a:r>
              <a:rPr sz="1600">
                <a:solidFill>
                  <a:srgbClr val="9AABC4"/>
                </a:solidFill>
                <a:latin typeface="Segoe UI"/>
              </a:rPr>
              <a:t>  —  la interrupción debe terminar en 1/fs; subir fs exige más CPU compartida sin beneficio en esta etapa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920240"/>
            <a:ext cx="4297680" cy="3200400"/>
          </a:xfrm>
          <a:prstGeom prst="roundRect">
            <a:avLst>
              <a:gd name="adj" fmla="val 6000"/>
            </a:avLst>
          </a:prstGeom>
          <a:solidFill>
            <a:srgbClr val="0B1224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96912" y="2048256"/>
            <a:ext cx="37856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BDF8"/>
                </a:solidFill>
                <a:latin typeface="Segoe UI Semibold"/>
              </a:rPr>
              <a:t>La cuenta del timer (TIM2)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96912" y="2423160"/>
            <a:ext cx="3785616" cy="274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00" dirty="0">
                <a:solidFill>
                  <a:srgbClr val="38BDF8"/>
                </a:solidFill>
                <a:latin typeface="Consolas"/>
              </a:rPr>
              <a:t>fs = f_APB1_timer / ((PSC+1)(ARR+1))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E8EEF7"/>
                </a:solidFill>
                <a:latin typeface="Consolas"/>
              </a:rPr>
              <a:t>f_APB1_timer = 90 MHz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E8EEF7"/>
                </a:solidFill>
                <a:latin typeface="Consolas"/>
              </a:rPr>
              <a:t>fs </a:t>
            </a:r>
            <a:r>
              <a:rPr sz="1500" dirty="0" err="1">
                <a:solidFill>
                  <a:srgbClr val="E8EEF7"/>
                </a:solidFill>
                <a:latin typeface="Consolas"/>
              </a:rPr>
              <a:t>deseada</a:t>
            </a:r>
            <a:r>
              <a:rPr sz="1500" dirty="0">
                <a:solidFill>
                  <a:srgbClr val="E8EEF7"/>
                </a:solidFill>
                <a:latin typeface="Consolas"/>
              </a:rPr>
              <a:t>   = 48 kHz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34D399"/>
                </a:solidFill>
                <a:latin typeface="Consolas"/>
              </a:rPr>
              <a:t>90 000 000 / 48 000 = 1875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E8EEF7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500" dirty="0">
                <a:solidFill>
                  <a:srgbClr val="FBBF24"/>
                </a:solidFill>
                <a:latin typeface="Consolas"/>
              </a:rPr>
              <a:t>PSC = 0     ARR = 1874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25780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AABC4"/>
                </a:solidFill>
                <a:latin typeface="Segoe UI"/>
              </a:rPr>
              <a:t>1875 da entero → 48 kHz exacto y sin jitter.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9728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1" i="0">
                <a:solidFill>
                  <a:srgbClr val="3AD1E0"/>
                </a:solidFill>
                <a:latin typeface="Calibri"/>
              </a:rPr>
              <a:t>PROYECTO CERO · GENERADOR 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800" b="1" i="0">
                <a:solidFill>
                  <a:srgbClr val="EAF1F8"/>
                </a:solidFill>
                <a:latin typeface="Calibri"/>
              </a:rPr>
              <a:t>Código (1/2): variables y arranque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50" b="0" i="0">
                <a:solidFill>
                  <a:srgbClr val="9DB2C7"/>
                </a:solidFill>
                <a:latin typeface="Calibri"/>
              </a:rPr>
              <a:t>Un juego de variables por canal, y los valores iniciales al encender.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8732520" cy="3611880"/>
          </a:xfrm>
          <a:prstGeom prst="roundRect">
            <a:avLst/>
          </a:prstGeom>
          <a:solidFill>
            <a:srgbClr val="0A1420"/>
          </a:solidFill>
          <a:ln w="1524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82296" cy="361188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11095"/>
            <a:ext cx="6456896" cy="27056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i="1" dirty="0">
                <a:solidFill>
                  <a:srgbClr val="6EB58F"/>
                </a:solidFill>
                <a:latin typeface="Consolas"/>
              </a:rPr>
              <a:t>/* Variables —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una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por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canal (arrays de 2) */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uint32_t          acc[2]       = {0, 0};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acumulador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de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fase</a:t>
            </a:r>
            <a:endParaRPr sz="1200" i="1" dirty="0">
              <a:solidFill>
                <a:srgbClr val="6EB58F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volatile uint32_t </a:t>
            </a:r>
            <a:r>
              <a:rPr sz="120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[2]       = {0, 0};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paso (define la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frecuencia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volatile uint8_t  </a:t>
            </a:r>
            <a:r>
              <a:rPr sz="1200" dirty="0" err="1">
                <a:solidFill>
                  <a:srgbClr val="DFE9F2"/>
                </a:solidFill>
                <a:latin typeface="Consolas"/>
              </a:rPr>
              <a:t>salida_on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[2] = {1, 1};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on / off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volatile int32_t  amp[2]       = {2048,2048};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amplitud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(2048 = maxima)</a:t>
            </a:r>
          </a:p>
          <a:p>
            <a:pPr>
              <a:lnSpc>
                <a:spcPct val="105000"/>
              </a:lnSpc>
            </a:pPr>
            <a:r>
              <a:rPr sz="1200" dirty="0">
                <a:solidFill>
                  <a:srgbClr val="DFE9F2"/>
                </a:solidFill>
                <a:latin typeface="Consolas"/>
              </a:rPr>
              <a:t>volatile uint8_t  canal        = </a:t>
            </a:r>
            <a:r>
              <a:rPr lang="es-AR" sz="1200" dirty="0">
                <a:solidFill>
                  <a:srgbClr val="DFE9F2"/>
                </a:solidFill>
                <a:latin typeface="Consolas"/>
              </a:rPr>
              <a:t>CANAL_L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;     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canal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activo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(0 o 1)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#define AMP_STEP 248                     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paso de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amplitud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(~0.2 V)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>
                <a:solidFill>
                  <a:srgbClr val="DFE9F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i="1" dirty="0">
                <a:solidFill>
                  <a:srgbClr val="6EB58F"/>
                </a:solidFill>
                <a:latin typeface="Consolas"/>
              </a:rPr>
              <a:t>/*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Arranque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—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dentro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de main() */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[0] = (uint32_t)(500.0 * 4294967296.0 / 48000.0);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canal 1 -&gt; 500 Hz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[1] = 0;                             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canal 2 -&gt;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apagado</a:t>
            </a:r>
            <a:endParaRPr sz="1200" i="1" dirty="0">
              <a:solidFill>
                <a:srgbClr val="6EB58F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 err="1">
                <a:solidFill>
                  <a:srgbClr val="DFE9F2"/>
                </a:solidFill>
                <a:latin typeface="Consolas"/>
              </a:rPr>
              <a:t>HAL_DAC_Start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(&amp;</a:t>
            </a:r>
            <a:r>
              <a:rPr sz="1200" dirty="0" err="1">
                <a:solidFill>
                  <a:srgbClr val="DFE9F2"/>
                </a:solidFill>
                <a:latin typeface="Consolas"/>
              </a:rPr>
              <a:t>hdac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, DAC_CHANNEL_1);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 err="1">
                <a:solidFill>
                  <a:srgbClr val="DFE9F2"/>
                </a:solidFill>
                <a:latin typeface="Consolas"/>
              </a:rPr>
              <a:t>HAL_DAC_Start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(&amp;</a:t>
            </a:r>
            <a:r>
              <a:rPr sz="1200" dirty="0" err="1">
                <a:solidFill>
                  <a:srgbClr val="DFE9F2"/>
                </a:solidFill>
                <a:latin typeface="Consolas"/>
              </a:rPr>
              <a:t>hdac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, DAC_CHANNEL_2);    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arranca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los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 2 canales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dirty="0" err="1">
                <a:solidFill>
                  <a:srgbClr val="DFE9F2"/>
                </a:solidFill>
                <a:latin typeface="Consolas"/>
              </a:rPr>
              <a:t>HAL_TIM_Base_Start_IT</a:t>
            </a:r>
            <a:r>
              <a:rPr sz="1200" dirty="0">
                <a:solidFill>
                  <a:srgbClr val="DFE9F2"/>
                </a:solidFill>
                <a:latin typeface="Consolas"/>
              </a:rPr>
              <a:t>(&amp;htim2);                </a:t>
            </a:r>
            <a:r>
              <a:rPr sz="1200" i="1" dirty="0">
                <a:solidFill>
                  <a:srgbClr val="6EB58F"/>
                </a:solidFill>
                <a:latin typeface="Consolas"/>
              </a:rPr>
              <a:t>// timer CON </a:t>
            </a:r>
            <a:r>
              <a:rPr sz="1200" i="1" dirty="0" err="1">
                <a:solidFill>
                  <a:srgbClr val="6EB58F"/>
                </a:solidFill>
                <a:latin typeface="Consolas"/>
              </a:rPr>
              <a:t>interrupcion</a:t>
            </a:r>
            <a:endParaRPr sz="1200" i="1" dirty="0">
              <a:solidFill>
                <a:srgbClr val="6EB58F"/>
              </a:solidFill>
              <a:latin typeface="Consola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464040" y="1783080"/>
            <a:ext cx="2240280" cy="3611880"/>
          </a:xfrm>
          <a:prstGeom prst="roundRect">
            <a:avLst/>
          </a:prstGeom>
          <a:solidFill>
            <a:srgbClr val="16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46920" y="1965960"/>
            <a:ext cx="192024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 i="0">
                <a:solidFill>
                  <a:srgbClr val="3AD1E0"/>
                </a:solidFill>
                <a:latin typeface="Calibri"/>
              </a:rPr>
              <a:t>Claves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395728"/>
            <a:ext cx="1920240" cy="2926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•  Todo en arrays [2]: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   un oscilador por canal.</a:t>
            </a:r>
          </a:p>
          <a:p>
            <a:pPr algn="l"/>
            <a:endParaRPr sz="1200" b="0" i="0">
              <a:solidFill>
                <a:srgbClr val="EAF1F8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•  FTW = fout · 2³² / fs</a:t>
            </a:r>
          </a:p>
          <a:p>
            <a:pPr algn="l"/>
            <a:endParaRPr sz="1200" b="0" i="0">
              <a:solidFill>
                <a:srgbClr val="EAF1F8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•  Canal 1 arranca a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   500 Hz; el 2, mudo.</a:t>
            </a:r>
          </a:p>
          <a:p>
            <a:pPr algn="l"/>
            <a:endParaRPr sz="1200" b="0" i="0">
              <a:solidFill>
                <a:srgbClr val="EAF1F8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•  El timer se lanza con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   interrupcion (Start_IT).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109728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1" i="0" dirty="0">
                <a:solidFill>
                  <a:srgbClr val="3AD1E0"/>
                </a:solidFill>
                <a:latin typeface="Calibri"/>
              </a:rPr>
              <a:t>PROYECTO CERO · GENERADOR 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800" b="1" i="0">
                <a:solidFill>
                  <a:srgbClr val="EAF1F8"/>
                </a:solidFill>
                <a:latin typeface="Calibri"/>
              </a:rPr>
              <a:t>Código (2/2): comandos e interrupción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50" b="0" i="0">
                <a:solidFill>
                  <a:srgbClr val="9DB2C7"/>
                </a:solidFill>
                <a:latin typeface="Calibri"/>
              </a:rPr>
              <a:t>El bucle lee la terminal; la interrupción (48 kHz) genera las 2 señales.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4864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 i="0">
                <a:solidFill>
                  <a:srgbClr val="46D19E"/>
                </a:solidFill>
                <a:latin typeface="Calibri"/>
              </a:rPr>
              <a:t>Comandos desde la PC  (bucle while)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5532120" cy="3429000"/>
          </a:xfrm>
          <a:prstGeom prst="roundRect">
            <a:avLst/>
          </a:prstGeom>
          <a:solidFill>
            <a:srgbClr val="0A1420"/>
          </a:solidFill>
          <a:ln w="1524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82296" cy="3429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5212080" cy="31729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i="1" dirty="0">
                <a:solidFill>
                  <a:srgbClr val="6EB58F"/>
                </a:solidFill>
                <a:latin typeface="Consolas"/>
              </a:rPr>
              <a:t>/* lee un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caracter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de la terminal (UART) */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 err="1">
                <a:solidFill>
                  <a:srgbClr val="DFE9F2"/>
                </a:solidFill>
                <a:latin typeface="Consolas"/>
              </a:rPr>
              <a:t>HAL_UART_Receive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(&amp;huart2, &amp;c, 1, HAL_MAX_DELAY);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if (c &gt;= '0' &amp;&amp; c &lt;= '9')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numero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 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numero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*10 + (c - '0');  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arma el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numero</a:t>
            </a:r>
            <a:endParaRPr sz="1050" i="1" dirty="0">
              <a:solidFill>
                <a:srgbClr val="6EB58F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(c=='\r' || c=='\n')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[canal] 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numero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*2^32/48000;  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Enter: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fija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freq</a:t>
            </a:r>
            <a:endParaRPr sz="1050" i="1" dirty="0">
              <a:solidFill>
                <a:srgbClr val="6EB58F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  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numero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 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 ') canal ^= 1;         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cambia de canal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(c=='p')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salida_on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[canal]=1; 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play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(c=='s')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salida_on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[canal]=0; 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stop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(c=='+') amp[canal]+=AMP_STEP;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sube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amplitud</a:t>
            </a:r>
            <a:endParaRPr sz="1050" i="1" dirty="0">
              <a:solidFill>
                <a:srgbClr val="6EB58F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else if (c=='-') amp[canal]-=AMP_STEP;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// baja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amplitud</a:t>
            </a:r>
            <a:endParaRPr sz="1050" i="1" dirty="0">
              <a:solidFill>
                <a:srgbClr val="6EB58F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 i="0">
                <a:solidFill>
                  <a:srgbClr val="46D19E"/>
                </a:solidFill>
                <a:latin typeface="Calibri"/>
              </a:rPr>
              <a:t>Interrupción TIM2  (48 000 veces/seg)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5394960" cy="3429000"/>
          </a:xfrm>
          <a:prstGeom prst="roundRect">
            <a:avLst/>
          </a:prstGeom>
          <a:solidFill>
            <a:srgbClr val="0A1420"/>
          </a:solidFill>
          <a:ln w="1524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82296" cy="3429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231136"/>
            <a:ext cx="3860292" cy="2367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i="1" dirty="0">
                <a:solidFill>
                  <a:srgbClr val="6EB58F"/>
                </a:solidFill>
                <a:latin typeface="Consolas"/>
              </a:rPr>
              <a:t>/</a:t>
            </a:r>
            <a:r>
              <a:rPr lang="es-AR" sz="1050" i="1" dirty="0">
                <a:solidFill>
                  <a:srgbClr val="6EB58F"/>
                </a:solidFill>
                <a:latin typeface="Consolas"/>
              </a:rPr>
              <a:t>* 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se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dispara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a fs = 48 kHz */</a:t>
            </a: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acc[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CANAL_L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 +=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CANAL_L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];</a:t>
            </a: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acc[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CANAL_R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 +=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ftw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CANAL_R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centrar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la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muestra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en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0</a:t>
            </a: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int32_t c0 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sine_table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[acc[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CANAL_L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]&gt;&gt;19] - 2048;</a:t>
            </a: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int32_t c1 = </a:t>
            </a:r>
            <a:r>
              <a:rPr sz="1050" dirty="0" err="1">
                <a:solidFill>
                  <a:srgbClr val="DFE9F2"/>
                </a:solidFill>
                <a:latin typeface="Consolas"/>
              </a:rPr>
              <a:t>sine_table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[acc[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CANAL_R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]&gt;&gt;19] - 2048;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i="1" dirty="0">
                <a:solidFill>
                  <a:srgbClr val="6EB58F"/>
                </a:solidFill>
                <a:latin typeface="Consolas"/>
              </a:rPr>
              <a:t>//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escalar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amplitud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y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volver</a:t>
            </a:r>
            <a:r>
              <a:rPr sz="1050" i="1" dirty="0">
                <a:solidFill>
                  <a:srgbClr val="6EB58F"/>
                </a:solidFill>
                <a:latin typeface="Consolas"/>
              </a:rPr>
              <a:t> a </a:t>
            </a:r>
            <a:r>
              <a:rPr sz="1050" i="1" dirty="0" err="1">
                <a:solidFill>
                  <a:srgbClr val="6EB58F"/>
                </a:solidFill>
                <a:latin typeface="Consolas"/>
              </a:rPr>
              <a:t>centrar</a:t>
            </a:r>
            <a:endParaRPr sz="1050" i="1" dirty="0">
              <a:solidFill>
                <a:srgbClr val="6EB58F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v0 = 2048 + (c0 * amp[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CANAL_L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]) / 2048;</a:t>
            </a:r>
          </a:p>
          <a:p>
            <a:pPr>
              <a:lnSpc>
                <a:spcPct val="105000"/>
              </a:lnSpc>
            </a:pPr>
            <a:r>
              <a:rPr sz="1050" dirty="0">
                <a:solidFill>
                  <a:srgbClr val="DFE9F2"/>
                </a:solidFill>
                <a:latin typeface="Consolas"/>
              </a:rPr>
              <a:t>v1 = 2048 + (c1 * amp[</a:t>
            </a:r>
            <a:r>
              <a:rPr lang="es-AR" sz="1050" dirty="0">
                <a:solidFill>
                  <a:srgbClr val="DFE9F2"/>
                </a:solidFill>
                <a:latin typeface="Consolas"/>
              </a:rPr>
              <a:t>CANAL_R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]) / 2048;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>
                <a:solidFill>
                  <a:srgbClr val="DFE9F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 err="1">
                <a:solidFill>
                  <a:srgbClr val="DFE9F2"/>
                </a:solidFill>
                <a:latin typeface="Consolas"/>
              </a:rPr>
              <a:t>HAL_DAC_SetValue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(&amp;hdac,DAC_CHANNEL_1,...,v0);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dirty="0" err="1">
                <a:solidFill>
                  <a:srgbClr val="DFE9F2"/>
                </a:solidFill>
                <a:latin typeface="Consolas"/>
              </a:rPr>
              <a:t>HAL_DAC_SetValue</a:t>
            </a:r>
            <a:r>
              <a:rPr sz="1050" dirty="0">
                <a:solidFill>
                  <a:srgbClr val="DFE9F2"/>
                </a:solidFill>
                <a:latin typeface="Consolas"/>
              </a:rPr>
              <a:t>(&amp;hdac,DAC_CHANNEL_2,...,v1);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715000"/>
            <a:ext cx="11201400" cy="64008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797296"/>
            <a:ext cx="10972800" cy="4572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200" b="0" i="0">
                <a:solidFill>
                  <a:srgbClr val="9DB2C7"/>
                </a:solidFill>
                <a:latin typeface="Calibri"/>
              </a:rPr>
              <a:t>El motor DDS (acc += ftw  →  idx = acc≫19  →  tabla) define la FRECUENCIA;  el escalado (× amp/2048) define la AMPLITUD.  Los dos canales se resuelven en la misma interrupción.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50" b="1">
                <a:solidFill>
                  <a:srgbClr val="3AD1E0"/>
                </a:solidFill>
                <a:latin typeface="Calibri"/>
              </a:rPr>
              <a:t>PROYECTO CERO · GENERADOR 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112471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800" b="1">
                <a:solidFill>
                  <a:srgbClr val="EAF1F8"/>
                </a:solidFill>
                <a:latin typeface="Calibri"/>
              </a:rPr>
              <a:t>Esquema en bloques del circuito implementado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50" b="0">
                <a:solidFill>
                  <a:srgbClr val="9DB2C7"/>
                </a:solidFill>
                <a:latin typeface="Calibri"/>
              </a:rPr>
              <a:t>La PC envía comandos por UART; el STM32F446 genera las señales con su DAC (0–3.3 V); se observan en el osciloscopio.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90191" y="2020824"/>
            <a:ext cx="8211311" cy="3574063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3A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29" y="2194384"/>
            <a:ext cx="7739861" cy="32281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96415" y="6042943"/>
            <a:ext cx="2426817" cy="402336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96415" y="6116095"/>
            <a:ext cx="2426817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50" b="1">
                <a:solidFill>
                  <a:srgbClr val="3AD1E0"/>
                </a:solidFill>
                <a:latin typeface="Calibri"/>
              </a:rPr>
              <a:t>PC  →  comandos (UART)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553" y="6042943"/>
            <a:ext cx="2524658" cy="402336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553" y="6116095"/>
            <a:ext cx="2524658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50" b="1">
                <a:solidFill>
                  <a:srgbClr val="3AD1E0"/>
                </a:solidFill>
                <a:latin typeface="Calibri"/>
              </a:rPr>
              <a:t>STM32F446  →  DDS + DAC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6531" y="6042943"/>
            <a:ext cx="3698748" cy="402336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6531" y="6116095"/>
            <a:ext cx="3698748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50" b="1">
                <a:solidFill>
                  <a:srgbClr val="3AD1E0"/>
                </a:solidFill>
                <a:latin typeface="Calibri"/>
              </a:rPr>
              <a:t>Osciloscopio  →  medición (0–3.3 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9728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1" i="0">
                <a:solidFill>
                  <a:srgbClr val="3AD1E0"/>
                </a:solidFill>
                <a:latin typeface="Calibri"/>
              </a:rPr>
              <a:t>PROYECTO CERO · MEDICIONES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1" i="0">
                <a:solidFill>
                  <a:srgbClr val="EAF1F8"/>
                </a:solidFill>
                <a:latin typeface="Calibri"/>
              </a:rPr>
              <a:t>Barrido de frecuencia — un canal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00" b="0" i="0">
                <a:solidFill>
                  <a:srgbClr val="9DB2C7"/>
                </a:solidFill>
                <a:latin typeface="Calibri"/>
              </a:rPr>
              <a:t>Misma configuración (fs = 48 kHz), cambiando solo la frecuencia por comando. Todas directas del osciloscopio (sin filtro).</a:t>
            </a:r>
          </a:p>
        </p:txBody>
      </p:sp>
      <p:pic>
        <p:nvPicPr>
          <p:cNvPr id="7" name="Picture 6" descr="g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27632"/>
            <a:ext cx="3822191" cy="176022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pic>
        <p:nvPicPr>
          <p:cNvPr id="8" name="Picture 7" descr="g2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627632"/>
            <a:ext cx="3822191" cy="176022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pic>
        <p:nvPicPr>
          <p:cNvPr id="9" name="Picture 8" descr="g3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627632"/>
            <a:ext cx="3822191" cy="176022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pic>
        <p:nvPicPr>
          <p:cNvPr id="10" name="Picture 9" descr="g4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68496"/>
            <a:ext cx="3822191" cy="176022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pic>
        <p:nvPicPr>
          <p:cNvPr id="11" name="Picture 10" descr="g5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3968496"/>
            <a:ext cx="3822191" cy="176022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8083296" y="3968496"/>
            <a:ext cx="3822191" cy="1783080"/>
          </a:xfrm>
          <a:prstGeom prst="roundRect">
            <a:avLst/>
          </a:prstGeom>
          <a:solidFill>
            <a:srgbClr val="16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4096511"/>
            <a:ext cx="3456432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50" b="1" i="0">
                <a:solidFill>
                  <a:srgbClr val="3AD1E0"/>
                </a:solidFill>
                <a:latin typeface="Calibri"/>
              </a:rPr>
              <a:t>¿Qué se ve?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4498848"/>
            <a:ext cx="3456432" cy="11887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A más frecuencia, menos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muestras por ciclo (fs/fout):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1 kHz → 48   ·   5 kHz → 9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Por eso el escalonado crece</a:t>
            </a:r>
          </a:p>
          <a:p>
            <a:pPr algn="l"/>
            <a:r>
              <a:rPr sz="1200" b="0" i="0">
                <a:solidFill>
                  <a:srgbClr val="EAF1F8"/>
                </a:solidFill>
                <a:latin typeface="Calibri"/>
              </a:rPr>
              <a:t>con la frecuencia.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A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97280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200" b="1" i="0">
                <a:solidFill>
                  <a:srgbClr val="3AD1E0"/>
                </a:solidFill>
                <a:latin typeface="Calibri"/>
              </a:rPr>
              <a:t>PROYECTO CERO · MEDICIONES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2700" b="1" i="0">
                <a:solidFill>
                  <a:srgbClr val="EAF1F8"/>
                </a:solidFill>
                <a:latin typeface="Calibri"/>
              </a:rPr>
              <a:t>Dos canales a la vez, independientes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300" b="0" i="0">
                <a:solidFill>
                  <a:srgbClr val="9DB2C7"/>
                </a:solidFill>
                <a:latin typeface="Calibri"/>
              </a:rPr>
              <a:t>Salida simultánea por PA4 y PA5, cada una con su propia frecuencia y amplitud. Captura directa del osciloscopio.</a:t>
            </a:r>
          </a:p>
        </p:txBody>
      </p:sp>
      <p:pic>
        <p:nvPicPr>
          <p:cNvPr id="7" name="Picture 6" descr="g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4206240"/>
          </a:xfrm>
          <a:prstGeom prst="rect">
            <a:avLst/>
          </a:prstGeom>
          <a:ln w="12700">
            <a:solidFill>
              <a:srgbClr val="3AD1E0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2960" y="5806440"/>
            <a:ext cx="10515600" cy="685800"/>
          </a:xfrm>
          <a:prstGeom prst="roundRect">
            <a:avLst/>
          </a:prstGeom>
          <a:solidFill>
            <a:srgbClr val="1C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5897880"/>
            <a:ext cx="10058400" cy="50292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200" b="0" i="0">
                <a:solidFill>
                  <a:srgbClr val="9DB2C7"/>
                </a:solidFill>
                <a:latin typeface="Calibri"/>
              </a:rPr>
              <a:t>Los dos osciladores DDS corren en la misma interrupción (una sola tabla, un solo timer): acá ≈ 306 Hz y ≈ 100 Hz al mismo tiempo, con amplitudes distintas. Comparten fs = 48 kHz.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F"/>
              </a:gs>
              <a:gs pos="100000">
                <a:srgbClr val="121E3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260">
                <a:solidFill>
                  <a:srgbClr val="22D3EE"/>
                </a:solidFill>
                <a:latin typeface="Segoe UI Semibold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Conclusiones y próximos pasos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028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4D399"/>
                </a:solidFill>
                <a:latin typeface="Segoe UI Semibold"/>
              </a:rPr>
              <a:t>✓  Proyecto Cero cumplido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663440" cy="13460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Micro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elegido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y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entorno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andando</a:t>
            </a:r>
            <a:endParaRPr sz="1500" b="0" dirty="0">
              <a:solidFill>
                <a:srgbClr val="E8EEF7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Comando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desde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la PC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por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UART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Señal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senoidal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por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el DAC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 dirty="0">
                <a:solidFill>
                  <a:srgbClr val="34D399"/>
                </a:solidFill>
                <a:latin typeface="Segoe UI"/>
              </a:rPr>
              <a:t>▸ 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Frecuencia</a:t>
            </a:r>
            <a:r>
              <a:rPr lang="es-AR" sz="1500" dirty="0">
                <a:solidFill>
                  <a:srgbClr val="E8EEF7"/>
                </a:solidFill>
                <a:latin typeface="Segoe UI"/>
              </a:rPr>
              <a:t>, Amplitud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y on/off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por</a:t>
            </a:r>
            <a:r>
              <a:rPr sz="1500" b="0" dirty="0">
                <a:solidFill>
                  <a:srgbClr val="E8EEF7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E8EEF7"/>
                </a:solidFill>
                <a:latin typeface="Segoe UI"/>
              </a:rPr>
              <a:t>comando</a:t>
            </a:r>
            <a:endParaRPr sz="1500" b="0" dirty="0">
              <a:solidFill>
                <a:srgbClr val="E8EEF7"/>
              </a:solidFill>
              <a:latin typeface="Segoe U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62240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D3EE"/>
                </a:solidFill>
                <a:latin typeface="Segoe UI Semibold"/>
              </a:rPr>
              <a:t>→  Lo que viene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4663440" cy="16360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400" b="1" dirty="0" err="1">
                <a:solidFill>
                  <a:srgbClr val="E8EEF7"/>
                </a:solidFill>
                <a:latin typeface="Segoe UI"/>
              </a:rPr>
              <a:t>Filtro</a:t>
            </a:r>
            <a:r>
              <a:rPr sz="1400" b="1" dirty="0">
                <a:solidFill>
                  <a:srgbClr val="E8EEF7"/>
                </a:solidFill>
                <a:latin typeface="Segoe UI"/>
              </a:rPr>
              <a:t> con corte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 —  fc ~20–25 kHz para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limpiar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los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escalones</a:t>
            </a:r>
            <a:endParaRPr sz="1400" dirty="0">
              <a:solidFill>
                <a:srgbClr val="9AABC4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400" b="1" dirty="0">
                <a:solidFill>
                  <a:srgbClr val="E8EEF7"/>
                </a:solidFill>
                <a:latin typeface="Segoe UI"/>
              </a:rPr>
              <a:t>Más formas de </a:t>
            </a:r>
            <a:r>
              <a:rPr sz="1400" b="1" dirty="0" err="1">
                <a:solidFill>
                  <a:srgbClr val="E8EEF7"/>
                </a:solidFill>
                <a:latin typeface="Segoe UI"/>
              </a:rPr>
              <a:t>onda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 —  triangular,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cuadrada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arbitraria</a:t>
            </a:r>
            <a:endParaRPr sz="1400" dirty="0">
              <a:solidFill>
                <a:srgbClr val="9AABC4"/>
              </a:solidFill>
              <a:latin typeface="Segoe UI"/>
            </a:endParaRP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400" b="1" dirty="0">
                <a:solidFill>
                  <a:srgbClr val="22D3EE"/>
                </a:solidFill>
                <a:latin typeface="Segoe UI"/>
              </a:rPr>
              <a:t>▸  </a:t>
            </a:r>
            <a:r>
              <a:rPr sz="1400" b="1" dirty="0">
                <a:solidFill>
                  <a:srgbClr val="E8EEF7"/>
                </a:solidFill>
                <a:latin typeface="Segoe UI"/>
              </a:rPr>
              <a:t>El codec de 24 bits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 —  audio real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por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I²S — el </a:t>
            </a:r>
            <a:r>
              <a:rPr sz="1400" dirty="0" err="1">
                <a:solidFill>
                  <a:srgbClr val="9AABC4"/>
                </a:solidFill>
                <a:latin typeface="Segoe UI"/>
              </a:rPr>
              <a:t>objetivo</a:t>
            </a:r>
            <a:r>
              <a:rPr sz="1400" dirty="0">
                <a:solidFill>
                  <a:srgbClr val="9AABC4"/>
                </a:solidFill>
                <a:latin typeface="Segoe UI"/>
              </a:rPr>
              <a:t>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Proyecto Final  ·  AGSE  ·  Generador de señales 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BC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2898</Words>
  <Application>Microsoft Office PowerPoint</Application>
  <PresentationFormat>Panorámica</PresentationFormat>
  <Paragraphs>275</Paragraphs>
  <Slides>15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Esteban Fernández Madau</dc:creator>
  <cp:keywords/>
  <dc:description>generated using python-pptx</dc:description>
  <cp:lastModifiedBy>Esteban Fernández Madau</cp:lastModifiedBy>
  <cp:revision>4</cp:revision>
  <dcterms:created xsi:type="dcterms:W3CDTF">2013-01-27T09:14:16Z</dcterms:created>
  <dcterms:modified xsi:type="dcterms:W3CDTF">2026-09-09T15:32:30Z</dcterms:modified>
  <cp:category/>
</cp:coreProperties>
</file>